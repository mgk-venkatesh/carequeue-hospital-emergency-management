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17"/>
  </p:notesMasterIdLst>
  <p:sldIdLst>
    <p:sldId id="256" r:id="rId3"/>
    <p:sldId id="269" r:id="rId4"/>
    <p:sldId id="258" r:id="rId5"/>
    <p:sldId id="270" r:id="rId6"/>
    <p:sldId id="271" r:id="rId7"/>
    <p:sldId id="272" r:id="rId8"/>
    <p:sldId id="273" r:id="rId9"/>
    <p:sldId id="274" r:id="rId10"/>
    <p:sldId id="275" r:id="rId11"/>
    <p:sldId id="276" r:id="rId12"/>
    <p:sldId id="277" r:id="rId13"/>
    <p:sldId id="278" r:id="rId14"/>
    <p:sldId id="279" r:id="rId15"/>
    <p:sldId id="280"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38"/>
    <p:restoredTop sz="94631"/>
  </p:normalViewPr>
  <p:slideViewPr>
    <p:cSldViewPr snapToGrid="0">
      <p:cViewPr>
        <p:scale>
          <a:sx n="124" d="100"/>
          <a:sy n="124" d="100"/>
        </p:scale>
        <p:origin x="78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1298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half"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086" y="2130426"/>
            <a:ext cx="7764304" cy="1470025"/>
          </a:xfrm>
        </p:spPr>
        <p:txBody>
          <a:bodyPr/>
          <a:lstStyle/>
          <a:p>
            <a:r>
              <a:rPr lang="en-US"/>
              <a:t>Click to edit Master title style</a:t>
            </a:r>
          </a:p>
        </p:txBody>
      </p:sp>
      <p:sp>
        <p:nvSpPr>
          <p:cNvPr id="3" name="Subtitle 2"/>
          <p:cNvSpPr>
            <a:spLocks noGrp="1"/>
          </p:cNvSpPr>
          <p:nvPr>
            <p:ph type="subTitle" idx="1"/>
          </p:nvPr>
        </p:nvSpPr>
        <p:spPr>
          <a:xfrm>
            <a:off x="1370171" y="3886200"/>
            <a:ext cx="6394133" cy="1752600"/>
          </a:xfrm>
        </p:spPr>
        <p:txBody>
          <a:bodyPr/>
          <a:lstStyle>
            <a:lvl1pPr marL="0" indent="0" algn="ctr">
              <a:buNone/>
              <a:defRPr>
                <a:solidFill>
                  <a:schemeClr val="tx1">
                    <a:tint val="75000"/>
                  </a:schemeClr>
                </a:solidFill>
              </a:defRPr>
            </a:lvl1pPr>
            <a:lvl2pPr marL="456743" indent="0" algn="ctr">
              <a:buNone/>
              <a:defRPr>
                <a:solidFill>
                  <a:schemeClr val="tx1">
                    <a:tint val="75000"/>
                  </a:schemeClr>
                </a:solidFill>
              </a:defRPr>
            </a:lvl2pPr>
            <a:lvl3pPr marL="913486" indent="0" algn="ctr">
              <a:buNone/>
              <a:defRPr>
                <a:solidFill>
                  <a:schemeClr val="tx1">
                    <a:tint val="75000"/>
                  </a:schemeClr>
                </a:solidFill>
              </a:defRPr>
            </a:lvl3pPr>
            <a:lvl4pPr marL="1370228" indent="0" algn="ctr">
              <a:buNone/>
              <a:defRPr>
                <a:solidFill>
                  <a:schemeClr val="tx1">
                    <a:tint val="75000"/>
                  </a:schemeClr>
                </a:solidFill>
              </a:defRPr>
            </a:lvl4pPr>
            <a:lvl5pPr marL="1826971" indent="0" algn="ctr">
              <a:buNone/>
              <a:defRPr>
                <a:solidFill>
                  <a:schemeClr val="tx1">
                    <a:tint val="75000"/>
                  </a:schemeClr>
                </a:solidFill>
              </a:defRPr>
            </a:lvl5pPr>
            <a:lvl6pPr marL="2283714" indent="0" algn="ctr">
              <a:buNone/>
              <a:defRPr>
                <a:solidFill>
                  <a:schemeClr val="tx1">
                    <a:tint val="75000"/>
                  </a:schemeClr>
                </a:solidFill>
              </a:defRPr>
            </a:lvl6pPr>
            <a:lvl7pPr marL="2740457" indent="0" algn="ctr">
              <a:buNone/>
              <a:defRPr>
                <a:solidFill>
                  <a:schemeClr val="tx1">
                    <a:tint val="75000"/>
                  </a:schemeClr>
                </a:solidFill>
              </a:defRPr>
            </a:lvl7pPr>
            <a:lvl8pPr marL="3197200" indent="0" algn="ctr">
              <a:buNone/>
              <a:defRPr>
                <a:solidFill>
                  <a:schemeClr val="tx1">
                    <a:tint val="75000"/>
                  </a:schemeClr>
                </a:solidFill>
              </a:defRPr>
            </a:lvl8pPr>
            <a:lvl9pPr marL="365394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7357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3938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1560" y="4406901"/>
            <a:ext cx="7764304" cy="1362075"/>
          </a:xfrm>
        </p:spPr>
        <p:txBody>
          <a:bodyPr anchor="t"/>
          <a:lstStyle>
            <a:lvl1pPr algn="l">
              <a:defRPr sz="3996" b="1" cap="all"/>
            </a:lvl1pPr>
          </a:lstStyle>
          <a:p>
            <a:r>
              <a:rPr lang="en-US"/>
              <a:t>Click to edit Master title style</a:t>
            </a:r>
          </a:p>
        </p:txBody>
      </p:sp>
      <p:sp>
        <p:nvSpPr>
          <p:cNvPr id="3" name="Text Placeholder 2"/>
          <p:cNvSpPr>
            <a:spLocks noGrp="1"/>
          </p:cNvSpPr>
          <p:nvPr>
            <p:ph type="body" idx="1"/>
          </p:nvPr>
        </p:nvSpPr>
        <p:spPr>
          <a:xfrm>
            <a:off x="721560" y="2906713"/>
            <a:ext cx="7764304" cy="1500187"/>
          </a:xfrm>
        </p:spPr>
        <p:txBody>
          <a:bodyPr anchor="b"/>
          <a:lstStyle>
            <a:lvl1pPr marL="0" indent="0">
              <a:buNone/>
              <a:defRPr sz="1998">
                <a:solidFill>
                  <a:schemeClr val="tx1">
                    <a:tint val="75000"/>
                  </a:schemeClr>
                </a:solidFill>
              </a:defRPr>
            </a:lvl1pPr>
            <a:lvl2pPr marL="456743" indent="0">
              <a:buNone/>
              <a:defRPr sz="1798">
                <a:solidFill>
                  <a:schemeClr val="tx1">
                    <a:tint val="75000"/>
                  </a:schemeClr>
                </a:solidFill>
              </a:defRPr>
            </a:lvl2pPr>
            <a:lvl3pPr marL="913486" indent="0">
              <a:buNone/>
              <a:defRPr sz="1598">
                <a:solidFill>
                  <a:schemeClr val="tx1">
                    <a:tint val="75000"/>
                  </a:schemeClr>
                </a:solidFill>
              </a:defRPr>
            </a:lvl3pPr>
            <a:lvl4pPr marL="1370228" indent="0">
              <a:buNone/>
              <a:defRPr sz="1399">
                <a:solidFill>
                  <a:schemeClr val="tx1">
                    <a:tint val="75000"/>
                  </a:schemeClr>
                </a:solidFill>
              </a:defRPr>
            </a:lvl4pPr>
            <a:lvl5pPr marL="1826971" indent="0">
              <a:buNone/>
              <a:defRPr sz="1399">
                <a:solidFill>
                  <a:schemeClr val="tx1">
                    <a:tint val="75000"/>
                  </a:schemeClr>
                </a:solidFill>
              </a:defRPr>
            </a:lvl5pPr>
            <a:lvl6pPr marL="2283714" indent="0">
              <a:buNone/>
              <a:defRPr sz="1399">
                <a:solidFill>
                  <a:schemeClr val="tx1">
                    <a:tint val="75000"/>
                  </a:schemeClr>
                </a:solidFill>
              </a:defRPr>
            </a:lvl6pPr>
            <a:lvl7pPr marL="2740457" indent="0">
              <a:buNone/>
              <a:defRPr sz="1399">
                <a:solidFill>
                  <a:schemeClr val="tx1">
                    <a:tint val="75000"/>
                  </a:schemeClr>
                </a:solidFill>
              </a:defRPr>
            </a:lvl7pPr>
            <a:lvl8pPr marL="3197200" indent="0">
              <a:buNone/>
              <a:defRPr sz="1399">
                <a:solidFill>
                  <a:schemeClr val="tx1">
                    <a:tint val="75000"/>
                  </a:schemeClr>
                </a:solidFill>
              </a:defRPr>
            </a:lvl8pPr>
            <a:lvl9pPr marL="3653942" indent="0">
              <a:buNone/>
              <a:defRPr sz="139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5977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6724" y="1600201"/>
            <a:ext cx="4034393" cy="4525963"/>
          </a:xfrm>
        </p:spPr>
        <p:txBody>
          <a:bodyPr/>
          <a:lstStyle>
            <a:lvl1pPr>
              <a:defRPr sz="2797"/>
            </a:lvl1pPr>
            <a:lvl2pPr>
              <a:defRPr sz="2398"/>
            </a:lvl2pPr>
            <a:lvl3pPr>
              <a:defRPr sz="1998"/>
            </a:lvl3pPr>
            <a:lvl4pPr>
              <a:defRPr sz="1798"/>
            </a:lvl4pPr>
            <a:lvl5pPr>
              <a:defRPr sz="1798"/>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358" y="1600201"/>
            <a:ext cx="4034393" cy="4525963"/>
          </a:xfrm>
        </p:spPr>
        <p:txBody>
          <a:bodyPr/>
          <a:lstStyle>
            <a:lvl1pPr>
              <a:defRPr sz="2797"/>
            </a:lvl1pPr>
            <a:lvl2pPr>
              <a:defRPr sz="2398"/>
            </a:lvl2pPr>
            <a:lvl3pPr>
              <a:defRPr sz="1998"/>
            </a:lvl3pPr>
            <a:lvl4pPr>
              <a:defRPr sz="1798"/>
            </a:lvl4pPr>
            <a:lvl5pPr>
              <a:defRPr sz="1798"/>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431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724" y="1535113"/>
            <a:ext cx="4035979" cy="639762"/>
          </a:xfrm>
        </p:spPr>
        <p:txBody>
          <a:bodyPr anchor="b"/>
          <a:lstStyle>
            <a:lvl1pPr marL="0" indent="0">
              <a:buNone/>
              <a:defRPr sz="2398" b="1"/>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4" name="Content Placeholder 3"/>
          <p:cNvSpPr>
            <a:spLocks noGrp="1"/>
          </p:cNvSpPr>
          <p:nvPr>
            <p:ph sz="half" idx="2"/>
          </p:nvPr>
        </p:nvSpPr>
        <p:spPr>
          <a:xfrm>
            <a:off x="456724" y="2174875"/>
            <a:ext cx="4035979" cy="3951288"/>
          </a:xfrm>
        </p:spPr>
        <p:txBody>
          <a:bodyPr/>
          <a:lstStyle>
            <a:lvl1pPr>
              <a:defRPr sz="2398"/>
            </a:lvl1pPr>
            <a:lvl2pPr>
              <a:defRPr sz="1998"/>
            </a:lvl2pPr>
            <a:lvl3pPr>
              <a:defRPr sz="1798"/>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0187" y="1535113"/>
            <a:ext cx="4037565" cy="639762"/>
          </a:xfrm>
        </p:spPr>
        <p:txBody>
          <a:bodyPr anchor="b"/>
          <a:lstStyle>
            <a:lvl1pPr marL="0" indent="0">
              <a:buNone/>
              <a:defRPr sz="2398" b="1"/>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640187" y="2174875"/>
            <a:ext cx="4037565" cy="3951288"/>
          </a:xfrm>
        </p:spPr>
        <p:txBody>
          <a:bodyPr/>
          <a:lstStyle>
            <a:lvl1pPr>
              <a:defRPr sz="2398"/>
            </a:lvl1pPr>
            <a:lvl2pPr>
              <a:defRPr sz="1998"/>
            </a:lvl2pPr>
            <a:lvl3pPr>
              <a:defRPr sz="1798"/>
            </a:lvl3pPr>
            <a:lvl4pPr>
              <a:defRPr sz="1598"/>
            </a:lvl4pPr>
            <a:lvl5pPr>
              <a:defRPr sz="1598"/>
            </a:lvl5pPr>
            <a:lvl6pPr>
              <a:defRPr sz="1598"/>
            </a:lvl6pPr>
            <a:lvl7pPr>
              <a:defRPr sz="1598"/>
            </a:lvl7pPr>
            <a:lvl8pPr>
              <a:defRPr sz="1598"/>
            </a:lvl8pPr>
            <a:lvl9pPr>
              <a:defRPr sz="15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46953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3921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8512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724" y="273050"/>
            <a:ext cx="3005179" cy="1162050"/>
          </a:xfrm>
        </p:spPr>
        <p:txBody>
          <a:bodyPr anchor="b"/>
          <a:lstStyle>
            <a:lvl1pPr algn="l">
              <a:defRPr sz="1998" b="1"/>
            </a:lvl1pPr>
          </a:lstStyle>
          <a:p>
            <a:r>
              <a:rPr lang="en-US"/>
              <a:t>Click to edit Master title style</a:t>
            </a:r>
          </a:p>
        </p:txBody>
      </p:sp>
      <p:sp>
        <p:nvSpPr>
          <p:cNvPr id="3" name="Content Placeholder 2"/>
          <p:cNvSpPr>
            <a:spLocks noGrp="1"/>
          </p:cNvSpPr>
          <p:nvPr>
            <p:ph idx="1"/>
          </p:nvPr>
        </p:nvSpPr>
        <p:spPr>
          <a:xfrm>
            <a:off x="3571326" y="273051"/>
            <a:ext cx="5106425" cy="5853113"/>
          </a:xfrm>
        </p:spPr>
        <p:txBody>
          <a:bodyPr/>
          <a:lstStyle>
            <a:lvl1pPr>
              <a:defRPr sz="3197"/>
            </a:lvl1pPr>
            <a:lvl2pPr>
              <a:defRPr sz="2797"/>
            </a:lvl2pPr>
            <a:lvl3pPr>
              <a:defRPr sz="2398"/>
            </a:lvl3pPr>
            <a:lvl4pPr>
              <a:defRPr sz="1998"/>
            </a:lvl4pPr>
            <a:lvl5pPr>
              <a:defRPr sz="1998"/>
            </a:lvl5pPr>
            <a:lvl6pPr>
              <a:defRPr sz="1998"/>
            </a:lvl6pPr>
            <a:lvl7pPr>
              <a:defRPr sz="1998"/>
            </a:lvl7pPr>
            <a:lvl8pPr>
              <a:defRPr sz="1998"/>
            </a:lvl8pPr>
            <a:lvl9pPr>
              <a:defRPr sz="19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724" y="1435101"/>
            <a:ext cx="3005179" cy="4691063"/>
          </a:xfrm>
        </p:spPr>
        <p:txBody>
          <a:bodyPr/>
          <a:lstStyle>
            <a:lvl1pPr marL="0" indent="0">
              <a:buNone/>
              <a:defRPr sz="1399"/>
            </a:lvl1pPr>
            <a:lvl2pPr marL="456743" indent="0">
              <a:buNone/>
              <a:defRPr sz="1199"/>
            </a:lvl2pPr>
            <a:lvl3pPr marL="913486" indent="0">
              <a:buNone/>
              <a:defRPr sz="999"/>
            </a:lvl3pPr>
            <a:lvl4pPr marL="1370228" indent="0">
              <a:buNone/>
              <a:defRPr sz="899"/>
            </a:lvl4pPr>
            <a:lvl5pPr marL="1826971" indent="0">
              <a:buNone/>
              <a:defRPr sz="899"/>
            </a:lvl5pPr>
            <a:lvl6pPr marL="2283714" indent="0">
              <a:buNone/>
              <a:defRPr sz="899"/>
            </a:lvl6pPr>
            <a:lvl7pPr marL="2740457" indent="0">
              <a:buNone/>
              <a:defRPr sz="899"/>
            </a:lvl7pPr>
            <a:lvl8pPr marL="3197200" indent="0">
              <a:buNone/>
              <a:defRPr sz="899"/>
            </a:lvl8pPr>
            <a:lvl9pPr marL="3653942" indent="0">
              <a:buNone/>
              <a:defRPr sz="899"/>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2009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0421" y="4800600"/>
            <a:ext cx="5480685" cy="566738"/>
          </a:xfrm>
        </p:spPr>
        <p:txBody>
          <a:bodyPr anchor="b"/>
          <a:lstStyle>
            <a:lvl1pPr algn="l">
              <a:defRPr sz="1998" b="1"/>
            </a:lvl1pPr>
          </a:lstStyle>
          <a:p>
            <a:r>
              <a:rPr lang="en-US"/>
              <a:t>Click to edit Master title style</a:t>
            </a:r>
          </a:p>
        </p:txBody>
      </p:sp>
      <p:sp>
        <p:nvSpPr>
          <p:cNvPr id="3" name="Picture Placeholder 2"/>
          <p:cNvSpPr>
            <a:spLocks noGrp="1"/>
          </p:cNvSpPr>
          <p:nvPr>
            <p:ph type="pic" idx="1"/>
          </p:nvPr>
        </p:nvSpPr>
        <p:spPr>
          <a:xfrm>
            <a:off x="1790421" y="612775"/>
            <a:ext cx="5480685" cy="4114800"/>
          </a:xfrm>
        </p:spPr>
        <p:txBody>
          <a:bodyPr/>
          <a:lstStyle>
            <a:lvl1pPr marL="0" indent="0">
              <a:buNone/>
              <a:defRPr sz="3197"/>
            </a:lvl1pPr>
            <a:lvl2pPr marL="456743" indent="0">
              <a:buNone/>
              <a:defRPr sz="2797"/>
            </a:lvl2pPr>
            <a:lvl3pPr marL="913486" indent="0">
              <a:buNone/>
              <a:defRPr sz="2398"/>
            </a:lvl3pPr>
            <a:lvl4pPr marL="1370228" indent="0">
              <a:buNone/>
              <a:defRPr sz="1998"/>
            </a:lvl4pPr>
            <a:lvl5pPr marL="1826971" indent="0">
              <a:buNone/>
              <a:defRPr sz="1998"/>
            </a:lvl5pPr>
            <a:lvl6pPr marL="2283714" indent="0">
              <a:buNone/>
              <a:defRPr sz="1998"/>
            </a:lvl6pPr>
            <a:lvl7pPr marL="2740457" indent="0">
              <a:buNone/>
              <a:defRPr sz="1998"/>
            </a:lvl7pPr>
            <a:lvl8pPr marL="3197200" indent="0">
              <a:buNone/>
              <a:defRPr sz="1998"/>
            </a:lvl8pPr>
            <a:lvl9pPr marL="3653942" indent="0">
              <a:buNone/>
              <a:defRPr sz="1998"/>
            </a:lvl9pPr>
          </a:lstStyle>
          <a:p>
            <a:endParaRPr lang="en-US"/>
          </a:p>
        </p:txBody>
      </p:sp>
      <p:sp>
        <p:nvSpPr>
          <p:cNvPr id="4" name="Text Placeholder 3"/>
          <p:cNvSpPr>
            <a:spLocks noGrp="1"/>
          </p:cNvSpPr>
          <p:nvPr>
            <p:ph type="body" sz="half" idx="2"/>
          </p:nvPr>
        </p:nvSpPr>
        <p:spPr>
          <a:xfrm>
            <a:off x="1790421" y="5367338"/>
            <a:ext cx="5480685" cy="804862"/>
          </a:xfrm>
        </p:spPr>
        <p:txBody>
          <a:bodyPr/>
          <a:lstStyle>
            <a:lvl1pPr marL="0" indent="0">
              <a:buNone/>
              <a:defRPr sz="1399"/>
            </a:lvl1pPr>
            <a:lvl2pPr marL="456743" indent="0">
              <a:buNone/>
              <a:defRPr sz="1199"/>
            </a:lvl2pPr>
            <a:lvl3pPr marL="913486" indent="0">
              <a:buNone/>
              <a:defRPr sz="999"/>
            </a:lvl3pPr>
            <a:lvl4pPr marL="1370228" indent="0">
              <a:buNone/>
              <a:defRPr sz="899"/>
            </a:lvl4pPr>
            <a:lvl5pPr marL="1826971" indent="0">
              <a:buNone/>
              <a:defRPr sz="899"/>
            </a:lvl5pPr>
            <a:lvl6pPr marL="2283714" indent="0">
              <a:buNone/>
              <a:defRPr sz="899"/>
            </a:lvl6pPr>
            <a:lvl7pPr marL="2740457" indent="0">
              <a:buNone/>
              <a:defRPr sz="899"/>
            </a:lvl7pPr>
            <a:lvl8pPr marL="3197200" indent="0">
              <a:buNone/>
              <a:defRPr sz="899"/>
            </a:lvl8pPr>
            <a:lvl9pPr marL="3653942" indent="0">
              <a:buNone/>
              <a:defRPr sz="899"/>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038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18085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2494" y="274639"/>
            <a:ext cx="2055257"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6724" y="274639"/>
            <a:ext cx="601352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874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6724" y="274638"/>
            <a:ext cx="8221028"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6724" y="1600201"/>
            <a:ext cx="822102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6724" y="6356351"/>
            <a:ext cx="2131378" cy="365125"/>
          </a:xfrm>
          <a:prstGeom prst="rect">
            <a:avLst/>
          </a:prstGeom>
        </p:spPr>
        <p:txBody>
          <a:bodyPr vert="horz" lIns="91440" tIns="45720" rIns="91440" bIns="45720" rtlCol="0" anchor="ctr"/>
          <a:lstStyle>
            <a:lvl1pPr algn="l">
              <a:defRPr sz="1199">
                <a:solidFill>
                  <a:schemeClr val="tx1">
                    <a:tint val="75000"/>
                  </a:schemeClr>
                </a:solidFill>
              </a:defRPr>
            </a:lvl1pPr>
          </a:lstStyle>
          <a:p>
            <a:fld id="{5BCAD085-E8A6-8845-BD4E-CB4CCA059FC4}" type="datetimeFigureOut">
              <a:rPr lang="en-US" smtClean="0"/>
              <a:t>10/13/26</a:t>
            </a:fld>
            <a:endParaRPr lang="en-US"/>
          </a:p>
        </p:txBody>
      </p:sp>
      <p:sp>
        <p:nvSpPr>
          <p:cNvPr id="5" name="Footer Placeholder 4"/>
          <p:cNvSpPr>
            <a:spLocks noGrp="1"/>
          </p:cNvSpPr>
          <p:nvPr>
            <p:ph type="ftr" sz="quarter" idx="3"/>
          </p:nvPr>
        </p:nvSpPr>
        <p:spPr>
          <a:xfrm>
            <a:off x="3120946" y="6356351"/>
            <a:ext cx="2892584" cy="365125"/>
          </a:xfrm>
          <a:prstGeom prst="rect">
            <a:avLst/>
          </a:prstGeom>
        </p:spPr>
        <p:txBody>
          <a:bodyPr vert="horz" lIns="91440" tIns="45720" rIns="91440" bIns="45720" rtlCol="0" anchor="ctr"/>
          <a:lstStyle>
            <a:lvl1pPr algn="ctr">
              <a:defRPr sz="119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46374" y="6356351"/>
            <a:ext cx="2131378" cy="365125"/>
          </a:xfrm>
          <a:prstGeom prst="rect">
            <a:avLst/>
          </a:prstGeom>
        </p:spPr>
        <p:txBody>
          <a:bodyPr vert="horz" lIns="91440" tIns="45720" rIns="91440" bIns="45720" rtlCol="0" anchor="ctr"/>
          <a:lstStyle>
            <a:lvl1pPr algn="r">
              <a:defRPr sz="1199">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85249115"/>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ctr" defTabSz="456743" rtl="0" eaLnBrk="1" latinLnBrk="0" hangingPunct="1">
        <a:spcBef>
          <a:spcPct val="0"/>
        </a:spcBef>
        <a:buNone/>
        <a:defRPr sz="4396" kern="1200">
          <a:solidFill>
            <a:schemeClr val="tx1"/>
          </a:solidFill>
          <a:latin typeface="+mj-lt"/>
          <a:ea typeface="+mj-ea"/>
          <a:cs typeface="+mj-cs"/>
        </a:defRPr>
      </a:lvl1pPr>
    </p:titleStyle>
    <p:bodyStyle>
      <a:lvl1pPr marL="342557" indent="-342557" algn="l" defTabSz="456743" rtl="0" eaLnBrk="1" latinLnBrk="0" hangingPunct="1">
        <a:spcBef>
          <a:spcPct val="20000"/>
        </a:spcBef>
        <a:buFont typeface="Arial"/>
        <a:buChar char="•"/>
        <a:defRPr sz="3197" kern="1200">
          <a:solidFill>
            <a:schemeClr val="tx1"/>
          </a:solidFill>
          <a:latin typeface="+mn-lt"/>
          <a:ea typeface="+mn-ea"/>
          <a:cs typeface="+mn-cs"/>
        </a:defRPr>
      </a:lvl1pPr>
      <a:lvl2pPr marL="742207" indent="-285464" algn="l" defTabSz="456743" rtl="0" eaLnBrk="1" latinLnBrk="0" hangingPunct="1">
        <a:spcBef>
          <a:spcPct val="20000"/>
        </a:spcBef>
        <a:buFont typeface="Arial"/>
        <a:buChar char="–"/>
        <a:defRPr sz="2797" kern="1200">
          <a:solidFill>
            <a:schemeClr val="tx1"/>
          </a:solidFill>
          <a:latin typeface="+mn-lt"/>
          <a:ea typeface="+mn-ea"/>
          <a:cs typeface="+mn-cs"/>
        </a:defRPr>
      </a:lvl2pPr>
      <a:lvl3pPr marL="1141857" indent="-228371" algn="l" defTabSz="456743" rtl="0" eaLnBrk="1" latinLnBrk="0" hangingPunct="1">
        <a:spcBef>
          <a:spcPct val="20000"/>
        </a:spcBef>
        <a:buFont typeface="Arial"/>
        <a:buChar char="•"/>
        <a:defRPr sz="2398" kern="1200">
          <a:solidFill>
            <a:schemeClr val="tx1"/>
          </a:solidFill>
          <a:latin typeface="+mn-lt"/>
          <a:ea typeface="+mn-ea"/>
          <a:cs typeface="+mn-cs"/>
        </a:defRPr>
      </a:lvl3pPr>
      <a:lvl4pPr marL="1598600" indent="-228371" algn="l" defTabSz="456743" rtl="0" eaLnBrk="1" latinLnBrk="0" hangingPunct="1">
        <a:spcBef>
          <a:spcPct val="20000"/>
        </a:spcBef>
        <a:buFont typeface="Arial"/>
        <a:buChar char="–"/>
        <a:defRPr sz="1998" kern="1200">
          <a:solidFill>
            <a:schemeClr val="tx1"/>
          </a:solidFill>
          <a:latin typeface="+mn-lt"/>
          <a:ea typeface="+mn-ea"/>
          <a:cs typeface="+mn-cs"/>
        </a:defRPr>
      </a:lvl4pPr>
      <a:lvl5pPr marL="2055343" indent="-228371" algn="l" defTabSz="456743" rtl="0" eaLnBrk="1" latinLnBrk="0" hangingPunct="1">
        <a:spcBef>
          <a:spcPct val="20000"/>
        </a:spcBef>
        <a:buFont typeface="Arial"/>
        <a:buChar char="»"/>
        <a:defRPr sz="1998" kern="1200">
          <a:solidFill>
            <a:schemeClr val="tx1"/>
          </a:solidFill>
          <a:latin typeface="+mn-lt"/>
          <a:ea typeface="+mn-ea"/>
          <a:cs typeface="+mn-cs"/>
        </a:defRPr>
      </a:lvl5pPr>
      <a:lvl6pPr marL="2512085" indent="-228371" algn="l" defTabSz="456743" rtl="0" eaLnBrk="1" latinLnBrk="0" hangingPunct="1">
        <a:spcBef>
          <a:spcPct val="20000"/>
        </a:spcBef>
        <a:buFont typeface="Arial"/>
        <a:buChar char="•"/>
        <a:defRPr sz="1998" kern="1200">
          <a:solidFill>
            <a:schemeClr val="tx1"/>
          </a:solidFill>
          <a:latin typeface="+mn-lt"/>
          <a:ea typeface="+mn-ea"/>
          <a:cs typeface="+mn-cs"/>
        </a:defRPr>
      </a:lvl6pPr>
      <a:lvl7pPr marL="2968828" indent="-228371" algn="l" defTabSz="456743" rtl="0" eaLnBrk="1" latinLnBrk="0" hangingPunct="1">
        <a:spcBef>
          <a:spcPct val="20000"/>
        </a:spcBef>
        <a:buFont typeface="Arial"/>
        <a:buChar char="•"/>
        <a:defRPr sz="1998" kern="1200">
          <a:solidFill>
            <a:schemeClr val="tx1"/>
          </a:solidFill>
          <a:latin typeface="+mn-lt"/>
          <a:ea typeface="+mn-ea"/>
          <a:cs typeface="+mn-cs"/>
        </a:defRPr>
      </a:lvl7pPr>
      <a:lvl8pPr marL="3425571" indent="-228371" algn="l" defTabSz="456743" rtl="0" eaLnBrk="1" latinLnBrk="0" hangingPunct="1">
        <a:spcBef>
          <a:spcPct val="20000"/>
        </a:spcBef>
        <a:buFont typeface="Arial"/>
        <a:buChar char="•"/>
        <a:defRPr sz="1998" kern="1200">
          <a:solidFill>
            <a:schemeClr val="tx1"/>
          </a:solidFill>
          <a:latin typeface="+mn-lt"/>
          <a:ea typeface="+mn-ea"/>
          <a:cs typeface="+mn-cs"/>
        </a:defRPr>
      </a:lvl8pPr>
      <a:lvl9pPr marL="3882314" indent="-228371" algn="l" defTabSz="456743" rtl="0" eaLnBrk="1" latinLnBrk="0" hangingPunct="1">
        <a:spcBef>
          <a:spcPct val="20000"/>
        </a:spcBef>
        <a:buFont typeface="Arial"/>
        <a:buChar char="•"/>
        <a:defRPr sz="1998" kern="1200">
          <a:solidFill>
            <a:schemeClr val="tx1"/>
          </a:solidFill>
          <a:latin typeface="+mn-lt"/>
          <a:ea typeface="+mn-ea"/>
          <a:cs typeface="+mn-cs"/>
        </a:defRPr>
      </a:lvl9pPr>
    </p:bodyStyle>
    <p:otherStyle>
      <a:defPPr>
        <a:defRPr lang="en-US"/>
      </a:defPPr>
      <a:lvl1pPr marL="0" algn="l" defTabSz="456743" rtl="0" eaLnBrk="1" latinLnBrk="0" hangingPunct="1">
        <a:defRPr sz="1798" kern="1200">
          <a:solidFill>
            <a:schemeClr val="tx1"/>
          </a:solidFill>
          <a:latin typeface="+mn-lt"/>
          <a:ea typeface="+mn-ea"/>
          <a:cs typeface="+mn-cs"/>
        </a:defRPr>
      </a:lvl1pPr>
      <a:lvl2pPr marL="456743" algn="l" defTabSz="456743" rtl="0" eaLnBrk="1" latinLnBrk="0" hangingPunct="1">
        <a:defRPr sz="1798" kern="1200">
          <a:solidFill>
            <a:schemeClr val="tx1"/>
          </a:solidFill>
          <a:latin typeface="+mn-lt"/>
          <a:ea typeface="+mn-ea"/>
          <a:cs typeface="+mn-cs"/>
        </a:defRPr>
      </a:lvl2pPr>
      <a:lvl3pPr marL="913486" algn="l" defTabSz="456743" rtl="0" eaLnBrk="1" latinLnBrk="0" hangingPunct="1">
        <a:defRPr sz="1798" kern="1200">
          <a:solidFill>
            <a:schemeClr val="tx1"/>
          </a:solidFill>
          <a:latin typeface="+mn-lt"/>
          <a:ea typeface="+mn-ea"/>
          <a:cs typeface="+mn-cs"/>
        </a:defRPr>
      </a:lvl3pPr>
      <a:lvl4pPr marL="1370228" algn="l" defTabSz="456743" rtl="0" eaLnBrk="1" latinLnBrk="0" hangingPunct="1">
        <a:defRPr sz="1798" kern="1200">
          <a:solidFill>
            <a:schemeClr val="tx1"/>
          </a:solidFill>
          <a:latin typeface="+mn-lt"/>
          <a:ea typeface="+mn-ea"/>
          <a:cs typeface="+mn-cs"/>
        </a:defRPr>
      </a:lvl4pPr>
      <a:lvl5pPr marL="1826971" algn="l" defTabSz="456743" rtl="0" eaLnBrk="1" latinLnBrk="0" hangingPunct="1">
        <a:defRPr sz="1798" kern="1200">
          <a:solidFill>
            <a:schemeClr val="tx1"/>
          </a:solidFill>
          <a:latin typeface="+mn-lt"/>
          <a:ea typeface="+mn-ea"/>
          <a:cs typeface="+mn-cs"/>
        </a:defRPr>
      </a:lvl5pPr>
      <a:lvl6pPr marL="2283714" algn="l" defTabSz="456743" rtl="0" eaLnBrk="1" latinLnBrk="0" hangingPunct="1">
        <a:defRPr sz="1798" kern="1200">
          <a:solidFill>
            <a:schemeClr val="tx1"/>
          </a:solidFill>
          <a:latin typeface="+mn-lt"/>
          <a:ea typeface="+mn-ea"/>
          <a:cs typeface="+mn-cs"/>
        </a:defRPr>
      </a:lvl6pPr>
      <a:lvl7pPr marL="2740457" algn="l" defTabSz="456743" rtl="0" eaLnBrk="1" latinLnBrk="0" hangingPunct="1">
        <a:defRPr sz="1798" kern="1200">
          <a:solidFill>
            <a:schemeClr val="tx1"/>
          </a:solidFill>
          <a:latin typeface="+mn-lt"/>
          <a:ea typeface="+mn-ea"/>
          <a:cs typeface="+mn-cs"/>
        </a:defRPr>
      </a:lvl7pPr>
      <a:lvl8pPr marL="3197200" algn="l" defTabSz="456743" rtl="0" eaLnBrk="1" latinLnBrk="0" hangingPunct="1">
        <a:defRPr sz="1798" kern="1200">
          <a:solidFill>
            <a:schemeClr val="tx1"/>
          </a:solidFill>
          <a:latin typeface="+mn-lt"/>
          <a:ea typeface="+mn-ea"/>
          <a:cs typeface="+mn-cs"/>
        </a:defRPr>
      </a:lvl8pPr>
      <a:lvl9pPr marL="3653942" algn="l" defTabSz="456743"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F38"/>
        </a:solidFill>
        <a:effectLst/>
      </p:bgPr>
    </p:bg>
    <p:spTree>
      <p:nvGrpSpPr>
        <p:cNvPr id="1" name=""/>
        <p:cNvGrpSpPr/>
        <p:nvPr/>
      </p:nvGrpSpPr>
      <p:grpSpPr>
        <a:xfrm>
          <a:off x="0" y="0"/>
          <a:ext cx="0" cy="0"/>
          <a:chOff x="0" y="0"/>
          <a:chExt cx="0" cy="0"/>
        </a:xfrm>
      </p:grpSpPr>
      <p:sp>
        <p:nvSpPr>
          <p:cNvPr id="94" name="Rounded Rectangle 1"/>
          <p:cNvSpPr/>
          <p:nvPr/>
        </p:nvSpPr>
        <p:spPr>
          <a:xfrm>
            <a:off x="0" y="0"/>
            <a:ext cx="164593" cy="6858000"/>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95" name="TextBox 2"/>
          <p:cNvSpPr txBox="1"/>
          <p:nvPr/>
        </p:nvSpPr>
        <p:spPr>
          <a:xfrm>
            <a:off x="850392" y="832104"/>
            <a:ext cx="5431536" cy="2778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600" b="1">
                <a:solidFill>
                  <a:srgbClr val="80A4FF"/>
                </a:solidFill>
                <a:latin typeface="Aptos"/>
                <a:ea typeface="Aptos"/>
                <a:cs typeface="Aptos"/>
                <a:sym typeface="Aptos"/>
              </a:defRPr>
            </a:lvl1pPr>
          </a:lstStyle>
          <a:p>
            <a:r>
              <a:t>CAREQUEUE</a:t>
            </a:r>
          </a:p>
        </p:txBody>
      </p:sp>
      <p:sp>
        <p:nvSpPr>
          <p:cNvPr id="96" name="TextBox 3"/>
          <p:cNvSpPr txBox="1"/>
          <p:nvPr/>
        </p:nvSpPr>
        <p:spPr>
          <a:xfrm>
            <a:off x="804672" y="1426463"/>
            <a:ext cx="6803136" cy="1077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3400" b="1">
                <a:solidFill>
                  <a:srgbClr val="FFFFFF"/>
                </a:solidFill>
                <a:latin typeface="Aptos"/>
                <a:ea typeface="Aptos"/>
                <a:cs typeface="Aptos"/>
                <a:sym typeface="Aptos"/>
              </a:defRPr>
            </a:pPr>
            <a:r>
              <a:t>Hospital Emergency</a:t>
            </a:r>
            <a:br/>
            <a:r>
              <a:t>Management System</a:t>
            </a:r>
          </a:p>
        </p:txBody>
      </p:sp>
      <p:sp>
        <p:nvSpPr>
          <p:cNvPr id="98" name="TextBox 5"/>
          <p:cNvSpPr txBox="1"/>
          <p:nvPr/>
        </p:nvSpPr>
        <p:spPr>
          <a:xfrm>
            <a:off x="850392" y="3621023"/>
            <a:ext cx="6803136"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a:solidFill>
                  <a:srgbClr val="B4C6E5"/>
                </a:solidFill>
                <a:latin typeface="Aptos"/>
                <a:ea typeface="Aptos"/>
                <a:cs typeface="Aptos"/>
                <a:sym typeface="Aptos"/>
              </a:defRPr>
            </a:lvl1pPr>
          </a:lstStyle>
          <a:p>
            <a:r>
              <a:t>Computational Thinking and Programming</a:t>
            </a:r>
          </a:p>
        </p:txBody>
      </p:sp>
      <p:sp>
        <p:nvSpPr>
          <p:cNvPr id="99" name="Rounded Rectangle 6"/>
          <p:cNvSpPr/>
          <p:nvPr/>
        </p:nvSpPr>
        <p:spPr>
          <a:xfrm>
            <a:off x="822960" y="4617720"/>
            <a:ext cx="5303521" cy="685801"/>
          </a:xfrm>
          <a:prstGeom prst="roundRect">
            <a:avLst>
              <a:gd name="adj" fmla="val 16667"/>
            </a:avLst>
          </a:prstGeom>
          <a:solidFill>
            <a:srgbClr val="1B2E50"/>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0" name="TextBox 7"/>
          <p:cNvSpPr txBox="1"/>
          <p:nvPr/>
        </p:nvSpPr>
        <p:spPr>
          <a:xfrm>
            <a:off x="1078991" y="4846320"/>
            <a:ext cx="4791457"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FFFFFF"/>
                </a:solidFill>
                <a:latin typeface="Aptos"/>
                <a:ea typeface="Aptos"/>
                <a:cs typeface="Aptos"/>
                <a:sym typeface="Aptos"/>
              </a:defRPr>
            </a:lvl1pPr>
          </a:lstStyle>
          <a:p>
            <a:r>
              <a:t>Python  •  Flask  •  SQLite  •  Pytest</a:t>
            </a:r>
          </a:p>
        </p:txBody>
      </p:sp>
      <p:sp>
        <p:nvSpPr>
          <p:cNvPr id="101" name="TextBox 8"/>
          <p:cNvSpPr txBox="1"/>
          <p:nvPr/>
        </p:nvSpPr>
        <p:spPr>
          <a:xfrm>
            <a:off x="850392" y="5861303"/>
            <a:ext cx="5431536" cy="4678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400">
                <a:solidFill>
                  <a:srgbClr val="D0DCF4"/>
                </a:solidFill>
                <a:latin typeface="Aptos"/>
                <a:ea typeface="Aptos"/>
                <a:cs typeface="Aptos"/>
                <a:sym typeface="Aptos"/>
              </a:defRPr>
            </a:lvl1pPr>
          </a:lstStyle>
          <a:p>
            <a:r>
              <a:rPr dirty="0"/>
              <a:t>Presented by: </a:t>
            </a:r>
            <a:r>
              <a:rPr lang="en-US" dirty="0"/>
              <a:t>Geetha Krishna Venkatesh Maroju</a:t>
            </a:r>
          </a:p>
          <a:p>
            <a:r>
              <a:rPr lang="en-US" dirty="0"/>
              <a:t>Registered ID: 2601150056</a:t>
            </a:r>
            <a:endParaRPr dirty="0"/>
          </a:p>
        </p:txBody>
      </p:sp>
      <p:sp>
        <p:nvSpPr>
          <p:cNvPr id="102" name="Rounded Rectangle 9"/>
          <p:cNvSpPr/>
          <p:nvPr/>
        </p:nvSpPr>
        <p:spPr>
          <a:xfrm>
            <a:off x="7818119" y="960119"/>
            <a:ext cx="3474721" cy="786385"/>
          </a:xfrm>
          <a:prstGeom prst="roundRect">
            <a:avLst>
              <a:gd name="adj" fmla="val 16667"/>
            </a:avLst>
          </a:prstGeom>
          <a:solidFill>
            <a:srgbClr val="192C4D"/>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3" name="TextBox 10"/>
          <p:cNvSpPr txBox="1"/>
          <p:nvPr/>
        </p:nvSpPr>
        <p:spPr>
          <a:xfrm>
            <a:off x="8119871" y="1216152"/>
            <a:ext cx="2871218" cy="239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300" b="1">
                <a:solidFill>
                  <a:srgbClr val="FFFFFF"/>
                </a:solidFill>
                <a:latin typeface="Aptos"/>
                <a:ea typeface="Aptos"/>
                <a:cs typeface="Aptos"/>
                <a:sym typeface="Aptos"/>
              </a:defRPr>
            </a:lvl1pPr>
          </a:lstStyle>
          <a:p>
            <a:r>
              <a:t>01  REGISTER</a:t>
            </a:r>
          </a:p>
        </p:txBody>
      </p:sp>
      <p:sp>
        <p:nvSpPr>
          <p:cNvPr id="104" name="Rounded Rectangle 11"/>
          <p:cNvSpPr/>
          <p:nvPr/>
        </p:nvSpPr>
        <p:spPr>
          <a:xfrm>
            <a:off x="7818119" y="2075688"/>
            <a:ext cx="3474721" cy="786385"/>
          </a:xfrm>
          <a:prstGeom prst="roundRect">
            <a:avLst>
              <a:gd name="adj" fmla="val 16667"/>
            </a:avLst>
          </a:prstGeom>
          <a:solidFill>
            <a:srgbClr val="192C4D"/>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5" name="TextBox 12"/>
          <p:cNvSpPr txBox="1"/>
          <p:nvPr/>
        </p:nvSpPr>
        <p:spPr>
          <a:xfrm>
            <a:off x="8119871" y="2331720"/>
            <a:ext cx="2871218" cy="239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300" b="1">
                <a:solidFill>
                  <a:srgbClr val="FFFFFF"/>
                </a:solidFill>
                <a:latin typeface="Aptos"/>
                <a:ea typeface="Aptos"/>
                <a:cs typeface="Aptos"/>
                <a:sym typeface="Aptos"/>
              </a:defRPr>
            </a:lvl1pPr>
          </a:lstStyle>
          <a:p>
            <a:r>
              <a:t>02  PRIORITIZE</a:t>
            </a:r>
          </a:p>
        </p:txBody>
      </p:sp>
      <p:sp>
        <p:nvSpPr>
          <p:cNvPr id="106" name="Rounded Rectangle 13"/>
          <p:cNvSpPr/>
          <p:nvPr/>
        </p:nvSpPr>
        <p:spPr>
          <a:xfrm>
            <a:off x="7818119" y="3191255"/>
            <a:ext cx="3474721" cy="786385"/>
          </a:xfrm>
          <a:prstGeom prst="roundRect">
            <a:avLst>
              <a:gd name="adj" fmla="val 16667"/>
            </a:avLst>
          </a:prstGeom>
          <a:solidFill>
            <a:srgbClr val="192C4D"/>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7" name="TextBox 14"/>
          <p:cNvSpPr txBox="1"/>
          <p:nvPr/>
        </p:nvSpPr>
        <p:spPr>
          <a:xfrm>
            <a:off x="8119871" y="3447288"/>
            <a:ext cx="2871218" cy="239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300" b="1">
                <a:solidFill>
                  <a:srgbClr val="FFFFFF"/>
                </a:solidFill>
                <a:latin typeface="Aptos"/>
                <a:ea typeface="Aptos"/>
                <a:cs typeface="Aptos"/>
                <a:sym typeface="Aptos"/>
              </a:defRPr>
            </a:lvl1pPr>
          </a:lstStyle>
          <a:p>
            <a:r>
              <a:t>03  ASSIGN RESOURCES</a:t>
            </a:r>
          </a:p>
        </p:txBody>
      </p:sp>
      <p:sp>
        <p:nvSpPr>
          <p:cNvPr id="108" name="Rounded Rectangle 15"/>
          <p:cNvSpPr/>
          <p:nvPr/>
        </p:nvSpPr>
        <p:spPr>
          <a:xfrm>
            <a:off x="7818119" y="4306823"/>
            <a:ext cx="3474721" cy="786385"/>
          </a:xfrm>
          <a:prstGeom prst="roundRect">
            <a:avLst>
              <a:gd name="adj" fmla="val 16667"/>
            </a:avLst>
          </a:prstGeom>
          <a:solidFill>
            <a:srgbClr val="192C4D"/>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09" name="TextBox 16"/>
          <p:cNvSpPr txBox="1"/>
          <p:nvPr/>
        </p:nvSpPr>
        <p:spPr>
          <a:xfrm>
            <a:off x="8119871" y="4562855"/>
            <a:ext cx="2871218" cy="239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300" b="1">
                <a:solidFill>
                  <a:srgbClr val="FFFFFF"/>
                </a:solidFill>
                <a:latin typeface="Aptos"/>
                <a:ea typeface="Aptos"/>
                <a:cs typeface="Aptos"/>
                <a:sym typeface="Aptos"/>
              </a:defRPr>
            </a:lvl1pPr>
          </a:lstStyle>
          <a:p>
            <a:r>
              <a:t>04  RECORD TREATMENT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algn="l"/>
            <a:r>
              <a:rPr lang="en-US" sz="999" b="1" dirty="0">
                <a:solidFill>
                  <a:srgbClr val="315FE8"/>
                </a:solidFill>
                <a:latin typeface="Aptos"/>
              </a:rPr>
              <a:t>PROBLEM</a:t>
            </a:r>
            <a:r>
              <a:rPr sz="999" b="1" dirty="0">
                <a:solidFill>
                  <a:srgbClr val="315FE8"/>
                </a:solidFill>
                <a:latin typeface="Aptos"/>
              </a:rPr>
              <a:t> </a:t>
            </a:r>
            <a:r>
              <a:rPr lang="en-US" sz="999" b="1" dirty="0">
                <a:solidFill>
                  <a:srgbClr val="315FE8"/>
                </a:solidFill>
                <a:latin typeface="Aptos"/>
              </a:rPr>
              <a:t>&amp; </a:t>
            </a:r>
            <a:r>
              <a:rPr sz="999" b="1" dirty="0">
                <a:solidFill>
                  <a:srgbClr val="315FE8"/>
                </a:solidFill>
                <a:latin typeface="Aptos"/>
              </a:rPr>
              <a:t>MOTIVATION</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algn="l"/>
            <a:r>
              <a:rPr sz="2697" b="1" dirty="0">
                <a:solidFill>
                  <a:srgbClr val="19273F"/>
                </a:solidFill>
                <a:latin typeface="Aptos"/>
              </a:rPr>
              <a:t>What problem does </a:t>
            </a:r>
            <a:r>
              <a:rPr sz="2697" b="1" dirty="0" err="1">
                <a:solidFill>
                  <a:srgbClr val="19273F"/>
                </a:solidFill>
                <a:latin typeface="Aptos"/>
              </a:rPr>
              <a:t>CareQueue</a:t>
            </a:r>
            <a:r>
              <a:rPr sz="2697" b="1" dirty="0">
                <a:solidFill>
                  <a:srgbClr val="19273F"/>
                </a:solidFill>
                <a:latin typeface="Aptos"/>
              </a:rPr>
              <a:t> solve?</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algn="l"/>
            <a:r>
              <a:rPr sz="1199">
                <a:solidFill>
                  <a:srgbClr val="657794"/>
                </a:solidFill>
                <a:latin typeface="Aptos"/>
              </a:rPr>
              <a:t>A small hospital workflow problem translated into a testable software system.</a:t>
            </a:r>
          </a:p>
        </p:txBody>
      </p:sp>
      <p:grpSp>
        <p:nvGrpSpPr>
          <p:cNvPr id="28" name="Group 27">
            <a:extLst>
              <a:ext uri="{FF2B5EF4-FFF2-40B4-BE49-F238E27FC236}">
                <a16:creationId xmlns:a16="http://schemas.microsoft.com/office/drawing/2014/main" id="{D090637D-0A20-B2A5-94F2-561EE0AC8FFA}"/>
              </a:ext>
            </a:extLst>
          </p:cNvPr>
          <p:cNvGrpSpPr/>
          <p:nvPr/>
        </p:nvGrpSpPr>
        <p:grpSpPr>
          <a:xfrm>
            <a:off x="529800" y="6507319"/>
            <a:ext cx="11098387" cy="251450"/>
            <a:chOff x="529800" y="6507319"/>
            <a:chExt cx="11098387" cy="251450"/>
          </a:xfrm>
        </p:grpSpPr>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6" name="TextBox 5"/>
            <p:cNvSpPr txBox="1"/>
            <p:nvPr/>
          </p:nvSpPr>
          <p:spPr>
            <a:xfrm>
              <a:off x="548067" y="6562125"/>
              <a:ext cx="9017963" cy="196644"/>
            </a:xfrm>
            <a:prstGeom prst="rect">
              <a:avLst/>
            </a:prstGeom>
            <a:noFill/>
          </p:spPr>
          <p:txBody>
            <a:bodyPr wrap="square" lIns="36538" tIns="36538" rIns="36538" bIns="36538" anchor="t">
              <a:spAutoFit/>
            </a:bodyPr>
            <a:lstStyle/>
            <a:p>
              <a:pPr algn="l"/>
              <a:r>
                <a:rPr sz="799" b="1" dirty="0">
                  <a:solidFill>
                    <a:srgbClr val="657794"/>
                  </a:solidFill>
                  <a:latin typeface="Aptos"/>
                </a:rPr>
                <a:t>CAREQUEUE  •  COMPUTATIONAL THINKING &amp; PROGRAMMING</a:t>
              </a:r>
            </a:p>
          </p:txBody>
        </p:sp>
      </p:gr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a:r>
              <a:rPr sz="899" b="1" dirty="0">
                <a:solidFill>
                  <a:srgbClr val="657794"/>
                </a:solidFill>
                <a:latin typeface="Aptos"/>
              </a:rPr>
              <a:t>0</a:t>
            </a:r>
            <a:r>
              <a:rPr lang="en-US" sz="899" b="1" dirty="0">
                <a:solidFill>
                  <a:srgbClr val="657794"/>
                </a:solidFill>
                <a:latin typeface="Aptos"/>
              </a:rPr>
              <a:t>2</a:t>
            </a:r>
            <a:endParaRPr sz="899" b="1" dirty="0">
              <a:solidFill>
                <a:srgbClr val="657794"/>
              </a:solidFill>
              <a:latin typeface="Aptos"/>
            </a:endParaRPr>
          </a:p>
        </p:txBody>
      </p:sp>
      <p:sp>
        <p:nvSpPr>
          <p:cNvPr id="8" name="Rounded Rectangle 7"/>
          <p:cNvSpPr/>
          <p:nvPr/>
        </p:nvSpPr>
        <p:spPr>
          <a:xfrm>
            <a:off x="566337" y="1693450"/>
            <a:ext cx="2648998" cy="141584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9" name="Rectangle 8"/>
          <p:cNvSpPr/>
          <p:nvPr/>
        </p:nvSpPr>
        <p:spPr>
          <a:xfrm>
            <a:off x="566338" y="1693450"/>
            <a:ext cx="63941" cy="1415844"/>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0" name="TextBox 9"/>
          <p:cNvSpPr txBox="1"/>
          <p:nvPr/>
        </p:nvSpPr>
        <p:spPr>
          <a:xfrm>
            <a:off x="749027" y="1839601"/>
            <a:ext cx="2320157" cy="310572"/>
          </a:xfrm>
          <a:prstGeom prst="rect">
            <a:avLst/>
          </a:prstGeom>
          <a:noFill/>
        </p:spPr>
        <p:txBody>
          <a:bodyPr wrap="square" lIns="36538" tIns="36538" rIns="36538" bIns="36538" anchor="t">
            <a:spAutoFit/>
          </a:bodyPr>
          <a:lstStyle/>
          <a:p>
            <a:pPr algn="l"/>
            <a:r>
              <a:rPr sz="1499" b="1">
                <a:solidFill>
                  <a:srgbClr val="19273F"/>
                </a:solidFill>
                <a:latin typeface="Aptos"/>
              </a:rPr>
              <a:t>Scattered intake</a:t>
            </a:r>
          </a:p>
        </p:txBody>
      </p:sp>
      <p:sp>
        <p:nvSpPr>
          <p:cNvPr id="11" name="TextBox 10"/>
          <p:cNvSpPr txBox="1"/>
          <p:nvPr/>
        </p:nvSpPr>
        <p:spPr>
          <a:xfrm>
            <a:off x="749027" y="2214116"/>
            <a:ext cx="2301888" cy="626825"/>
          </a:xfrm>
          <a:prstGeom prst="rect">
            <a:avLst/>
          </a:prstGeom>
          <a:noFill/>
        </p:spPr>
        <p:txBody>
          <a:bodyPr wrap="square" lIns="36538" tIns="36538" rIns="36538" bIns="36538" anchor="t">
            <a:spAutoFit/>
          </a:bodyPr>
          <a:lstStyle/>
          <a:p>
            <a:pPr algn="l"/>
            <a:r>
              <a:rPr sz="1199">
                <a:solidFill>
                  <a:srgbClr val="657794"/>
                </a:solidFill>
                <a:latin typeface="Aptos"/>
              </a:rPr>
              <a:t>Patient details and symptoms need a consistent registration path.</a:t>
            </a:r>
          </a:p>
        </p:txBody>
      </p:sp>
      <p:sp>
        <p:nvSpPr>
          <p:cNvPr id="12" name="Rounded Rectangle 11"/>
          <p:cNvSpPr/>
          <p:nvPr/>
        </p:nvSpPr>
        <p:spPr>
          <a:xfrm>
            <a:off x="3379756" y="1693450"/>
            <a:ext cx="2648998" cy="141584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3" name="Rectangle 12"/>
          <p:cNvSpPr/>
          <p:nvPr/>
        </p:nvSpPr>
        <p:spPr>
          <a:xfrm>
            <a:off x="3379756" y="1693450"/>
            <a:ext cx="63941" cy="1415844"/>
          </a:xfrm>
          <a:prstGeom prst="rect">
            <a:avLst/>
          </a:prstGeom>
          <a:solidFill>
            <a:srgbClr val="EB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4" name="TextBox 13"/>
          <p:cNvSpPr txBox="1"/>
          <p:nvPr/>
        </p:nvSpPr>
        <p:spPr>
          <a:xfrm>
            <a:off x="3562445" y="1839601"/>
            <a:ext cx="2320157" cy="310572"/>
          </a:xfrm>
          <a:prstGeom prst="rect">
            <a:avLst/>
          </a:prstGeom>
          <a:noFill/>
        </p:spPr>
        <p:txBody>
          <a:bodyPr wrap="square" lIns="36538" tIns="36538" rIns="36538" bIns="36538" anchor="t">
            <a:spAutoFit/>
          </a:bodyPr>
          <a:lstStyle/>
          <a:p>
            <a:pPr algn="l"/>
            <a:r>
              <a:rPr sz="1499" b="1">
                <a:solidFill>
                  <a:srgbClr val="19273F"/>
                </a:solidFill>
                <a:latin typeface="Aptos"/>
              </a:rPr>
              <a:t>Unclear priority</a:t>
            </a:r>
          </a:p>
        </p:txBody>
      </p:sp>
      <p:sp>
        <p:nvSpPr>
          <p:cNvPr id="15" name="TextBox 14"/>
          <p:cNvSpPr txBox="1"/>
          <p:nvPr/>
        </p:nvSpPr>
        <p:spPr>
          <a:xfrm>
            <a:off x="3562445" y="2214116"/>
            <a:ext cx="2301888" cy="626825"/>
          </a:xfrm>
          <a:prstGeom prst="rect">
            <a:avLst/>
          </a:prstGeom>
          <a:noFill/>
        </p:spPr>
        <p:txBody>
          <a:bodyPr wrap="square" lIns="36538" tIns="36538" rIns="36538" bIns="36538" anchor="t">
            <a:spAutoFit/>
          </a:bodyPr>
          <a:lstStyle/>
          <a:p>
            <a:pPr algn="l"/>
            <a:r>
              <a:rPr sz="1199">
                <a:solidFill>
                  <a:srgbClr val="657794"/>
                </a:solidFill>
                <a:latin typeface="Aptos"/>
              </a:rPr>
              <a:t>Waiting order should reflect operator-entered severity and arrival time.</a:t>
            </a:r>
          </a:p>
        </p:txBody>
      </p:sp>
      <p:sp>
        <p:nvSpPr>
          <p:cNvPr id="16" name="Rounded Rectangle 15"/>
          <p:cNvSpPr/>
          <p:nvPr/>
        </p:nvSpPr>
        <p:spPr>
          <a:xfrm>
            <a:off x="6193174" y="1693450"/>
            <a:ext cx="2648998" cy="141584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7" name="Rectangle 16"/>
          <p:cNvSpPr/>
          <p:nvPr/>
        </p:nvSpPr>
        <p:spPr>
          <a:xfrm>
            <a:off x="6193174" y="1693450"/>
            <a:ext cx="63941" cy="1415844"/>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8" name="TextBox 17"/>
          <p:cNvSpPr txBox="1"/>
          <p:nvPr/>
        </p:nvSpPr>
        <p:spPr>
          <a:xfrm>
            <a:off x="6375863" y="1839601"/>
            <a:ext cx="2320157" cy="310572"/>
          </a:xfrm>
          <a:prstGeom prst="rect">
            <a:avLst/>
          </a:prstGeom>
          <a:noFill/>
        </p:spPr>
        <p:txBody>
          <a:bodyPr wrap="square" lIns="36538" tIns="36538" rIns="36538" bIns="36538" anchor="t">
            <a:spAutoFit/>
          </a:bodyPr>
          <a:lstStyle/>
          <a:p>
            <a:pPr algn="l"/>
            <a:r>
              <a:rPr sz="1499" b="1" dirty="0">
                <a:solidFill>
                  <a:srgbClr val="19273F"/>
                </a:solidFill>
                <a:latin typeface="Aptos"/>
              </a:rPr>
              <a:t>Limited resources</a:t>
            </a:r>
          </a:p>
        </p:txBody>
      </p:sp>
      <p:sp>
        <p:nvSpPr>
          <p:cNvPr id="19" name="TextBox 18"/>
          <p:cNvSpPr txBox="1"/>
          <p:nvPr/>
        </p:nvSpPr>
        <p:spPr>
          <a:xfrm>
            <a:off x="6375863" y="2214116"/>
            <a:ext cx="2301888" cy="626825"/>
          </a:xfrm>
          <a:prstGeom prst="rect">
            <a:avLst/>
          </a:prstGeom>
          <a:noFill/>
        </p:spPr>
        <p:txBody>
          <a:bodyPr wrap="square" lIns="36538" tIns="36538" rIns="36538" bIns="36538" anchor="t">
            <a:spAutoFit/>
          </a:bodyPr>
          <a:lstStyle/>
          <a:p>
            <a:pPr algn="l"/>
            <a:r>
              <a:rPr sz="1199">
                <a:solidFill>
                  <a:srgbClr val="657794"/>
                </a:solidFill>
                <a:latin typeface="Aptos"/>
              </a:rPr>
              <a:t>Doctor, bed, and equipment availability must be visible before assignment.</a:t>
            </a:r>
          </a:p>
        </p:txBody>
      </p:sp>
      <p:sp>
        <p:nvSpPr>
          <p:cNvPr id="20" name="Rounded Rectangle 19"/>
          <p:cNvSpPr/>
          <p:nvPr/>
        </p:nvSpPr>
        <p:spPr>
          <a:xfrm>
            <a:off x="9006593" y="1693450"/>
            <a:ext cx="2603325" cy="141584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21" name="Rectangle 20"/>
          <p:cNvSpPr/>
          <p:nvPr/>
        </p:nvSpPr>
        <p:spPr>
          <a:xfrm>
            <a:off x="9006593" y="1693450"/>
            <a:ext cx="63941" cy="1415844"/>
          </a:xfrm>
          <a:prstGeom prst="rect">
            <a:avLst/>
          </a:prstGeom>
          <a:solidFill>
            <a:srgbClr val="64DC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22" name="TextBox 21"/>
          <p:cNvSpPr txBox="1"/>
          <p:nvPr/>
        </p:nvSpPr>
        <p:spPr>
          <a:xfrm>
            <a:off x="9189281" y="1839601"/>
            <a:ext cx="2274484" cy="310572"/>
          </a:xfrm>
          <a:prstGeom prst="rect">
            <a:avLst/>
          </a:prstGeom>
          <a:noFill/>
        </p:spPr>
        <p:txBody>
          <a:bodyPr wrap="square" lIns="36538" tIns="36538" rIns="36538" bIns="36538" anchor="t">
            <a:spAutoFit/>
          </a:bodyPr>
          <a:lstStyle/>
          <a:p>
            <a:pPr algn="l"/>
            <a:r>
              <a:rPr sz="1499" b="1">
                <a:solidFill>
                  <a:srgbClr val="19273F"/>
                </a:solidFill>
                <a:latin typeface="Aptos"/>
              </a:rPr>
              <a:t>Weak traceability</a:t>
            </a:r>
          </a:p>
        </p:txBody>
      </p:sp>
      <p:sp>
        <p:nvSpPr>
          <p:cNvPr id="23" name="TextBox 22"/>
          <p:cNvSpPr txBox="1"/>
          <p:nvPr/>
        </p:nvSpPr>
        <p:spPr>
          <a:xfrm>
            <a:off x="9189281" y="2214116"/>
            <a:ext cx="2256215" cy="626825"/>
          </a:xfrm>
          <a:prstGeom prst="rect">
            <a:avLst/>
          </a:prstGeom>
          <a:noFill/>
        </p:spPr>
        <p:txBody>
          <a:bodyPr wrap="square" lIns="36538" tIns="36538" rIns="36538" bIns="36538" anchor="t">
            <a:spAutoFit/>
          </a:bodyPr>
          <a:lstStyle/>
          <a:p>
            <a:pPr algn="l"/>
            <a:r>
              <a:rPr sz="1199">
                <a:solidFill>
                  <a:srgbClr val="657794"/>
                </a:solidFill>
                <a:latin typeface="Aptos"/>
              </a:rPr>
              <a:t>Treatment start, completion, notes, and release events should be recorded.</a:t>
            </a:r>
          </a:p>
        </p:txBody>
      </p:sp>
      <p:sp>
        <p:nvSpPr>
          <p:cNvPr id="24" name="Rounded Rectangle 23"/>
          <p:cNvSpPr/>
          <p:nvPr/>
        </p:nvSpPr>
        <p:spPr>
          <a:xfrm>
            <a:off x="566337" y="3492942"/>
            <a:ext cx="11034446" cy="2237946"/>
          </a:xfrm>
          <a:prstGeom prst="roundRect">
            <a:avLst>
              <a:gd name="adj" fmla="val 12000"/>
            </a:avLst>
          </a:prstGeom>
          <a:solidFill>
            <a:srgbClr val="EF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25" name="TextBox 24"/>
          <p:cNvSpPr txBox="1"/>
          <p:nvPr/>
        </p:nvSpPr>
        <p:spPr>
          <a:xfrm>
            <a:off x="840371" y="3748706"/>
            <a:ext cx="2740343" cy="242762"/>
          </a:xfrm>
          <a:prstGeom prst="rect">
            <a:avLst/>
          </a:prstGeom>
          <a:noFill/>
        </p:spPr>
        <p:txBody>
          <a:bodyPr wrap="square" lIns="36538" tIns="36538" rIns="36538" bIns="36538" anchor="t">
            <a:spAutoFit/>
          </a:bodyPr>
          <a:lstStyle/>
          <a:p>
            <a:pPr algn="l"/>
            <a:r>
              <a:rPr sz="1099" b="1">
                <a:solidFill>
                  <a:srgbClr val="315FE8"/>
                </a:solidFill>
                <a:latin typeface="Aptos"/>
              </a:rPr>
              <a:t>PROJECT OBJECTIVE</a:t>
            </a:r>
          </a:p>
        </p:txBody>
      </p:sp>
      <p:sp>
        <p:nvSpPr>
          <p:cNvPr id="26" name="TextBox 25"/>
          <p:cNvSpPr txBox="1"/>
          <p:nvPr/>
        </p:nvSpPr>
        <p:spPr>
          <a:xfrm>
            <a:off x="840372" y="4141489"/>
            <a:ext cx="9956578" cy="1058675"/>
          </a:xfrm>
          <a:prstGeom prst="rect">
            <a:avLst/>
          </a:prstGeom>
          <a:noFill/>
        </p:spPr>
        <p:txBody>
          <a:bodyPr wrap="square" lIns="36538" tIns="36538" rIns="36538" bIns="36538" anchor="t">
            <a:spAutoFit/>
          </a:bodyPr>
          <a:lstStyle/>
          <a:p>
            <a:r>
              <a:rPr lang="en-IN" sz="1600" dirty="0"/>
              <a:t>The objective of this project is to develop an educational prototype of a Hospital Emergency Management System that streamlines patient registration, prioritizes patients based on severity, manages the allocation of doctors, beds, and medical equipment, and maintains treatment records. The system incorporates input validation, automated testing, and data visualization to improve workflow organization, resource utilization, and the reliability of patient information.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C"/>
        </a:solidFill>
        <a:effectLst/>
      </p:bgPr>
    </p:bg>
    <p:spTree>
      <p:nvGrpSpPr>
        <p:cNvPr id="1" name=""/>
        <p:cNvGrpSpPr/>
        <p:nvPr/>
      </p:nvGrpSpPr>
      <p:grpSpPr>
        <a:xfrm>
          <a:off x="0" y="0"/>
          <a:ext cx="0" cy="0"/>
          <a:chOff x="0" y="0"/>
          <a:chExt cx="0" cy="0"/>
        </a:xfrm>
      </p:grpSpPr>
      <p:sp>
        <p:nvSpPr>
          <p:cNvPr id="134" name="Rounded Rectangle 1"/>
          <p:cNvSpPr/>
          <p:nvPr/>
        </p:nvSpPr>
        <p:spPr>
          <a:xfrm>
            <a:off x="0" y="0"/>
            <a:ext cx="12191696" cy="128016"/>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35" name="TextBox 2"/>
          <p:cNvSpPr txBox="1"/>
          <p:nvPr/>
        </p:nvSpPr>
        <p:spPr>
          <a:xfrm>
            <a:off x="530351" y="265175"/>
            <a:ext cx="9089137" cy="188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000" b="1">
                <a:solidFill>
                  <a:srgbClr val="315BEF"/>
                </a:solidFill>
                <a:latin typeface="Aptos"/>
                <a:ea typeface="Aptos"/>
                <a:cs typeface="Aptos"/>
                <a:sym typeface="Aptos"/>
              </a:defRPr>
            </a:lvl1pPr>
          </a:lstStyle>
          <a:p>
            <a:r>
              <a:t>SYSTEM WORKFLOW</a:t>
            </a:r>
          </a:p>
        </p:txBody>
      </p:sp>
      <p:sp>
        <p:nvSpPr>
          <p:cNvPr id="136" name="TextBox 3"/>
          <p:cNvSpPr txBox="1"/>
          <p:nvPr/>
        </p:nvSpPr>
        <p:spPr>
          <a:xfrm>
            <a:off x="11091671" y="256031"/>
            <a:ext cx="493777" cy="1889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r">
              <a:defRPr sz="1000" b="1">
                <a:solidFill>
                  <a:srgbClr val="5B6F91"/>
                </a:solidFill>
                <a:latin typeface="Aptos"/>
                <a:ea typeface="Aptos"/>
                <a:cs typeface="Aptos"/>
                <a:sym typeface="Aptos"/>
              </a:defRPr>
            </a:lvl1pPr>
          </a:lstStyle>
          <a:p>
            <a:endParaRPr dirty="0"/>
          </a:p>
        </p:txBody>
      </p:sp>
      <p:sp>
        <p:nvSpPr>
          <p:cNvPr id="137" name="TextBox 4"/>
          <p:cNvSpPr txBox="1"/>
          <p:nvPr/>
        </p:nvSpPr>
        <p:spPr>
          <a:xfrm>
            <a:off x="530351" y="694944"/>
            <a:ext cx="10460737" cy="430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2600" b="1">
                <a:solidFill>
                  <a:srgbClr val="1C2A42"/>
                </a:solidFill>
                <a:latin typeface="Aptos"/>
                <a:ea typeface="Aptos"/>
                <a:cs typeface="Aptos"/>
                <a:sym typeface="Aptos"/>
              </a:defRPr>
            </a:lvl1pPr>
          </a:lstStyle>
          <a:p>
            <a:r>
              <a:t>From registration to treatment completion</a:t>
            </a:r>
          </a:p>
        </p:txBody>
      </p:sp>
      <p:sp>
        <p:nvSpPr>
          <p:cNvPr id="138" name="Rounded Rectangle 5"/>
          <p:cNvSpPr/>
          <p:nvPr/>
        </p:nvSpPr>
        <p:spPr>
          <a:xfrm>
            <a:off x="502919" y="1874518"/>
            <a:ext cx="2011681" cy="1508761"/>
          </a:xfrm>
          <a:prstGeom prst="roundRect">
            <a:avLst>
              <a:gd name="adj" fmla="val 16667"/>
            </a:avLst>
          </a:prstGeom>
          <a:solidFill>
            <a:srgbClr val="FFFFFF"/>
          </a:solidFill>
          <a:ln>
            <a:solidFill>
              <a:srgbClr val="DCE4F1"/>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39" name="Rounded Rectangle 6"/>
          <p:cNvSpPr/>
          <p:nvPr/>
        </p:nvSpPr>
        <p:spPr>
          <a:xfrm>
            <a:off x="667512" y="2057400"/>
            <a:ext cx="384049" cy="384048"/>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0" name="TextBox 7"/>
          <p:cNvSpPr txBox="1"/>
          <p:nvPr/>
        </p:nvSpPr>
        <p:spPr>
          <a:xfrm>
            <a:off x="694944" y="2148839"/>
            <a:ext cx="329185" cy="21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1200" b="1">
                <a:solidFill>
                  <a:srgbClr val="FFFFFF"/>
                </a:solidFill>
                <a:latin typeface="Aptos"/>
                <a:ea typeface="Aptos"/>
                <a:cs typeface="Aptos"/>
                <a:sym typeface="Aptos"/>
              </a:defRPr>
            </a:lvl1pPr>
          </a:lstStyle>
          <a:p>
            <a:r>
              <a:t>1</a:t>
            </a:r>
          </a:p>
        </p:txBody>
      </p:sp>
      <p:sp>
        <p:nvSpPr>
          <p:cNvPr id="141" name="TextBox 8"/>
          <p:cNvSpPr txBox="1"/>
          <p:nvPr/>
        </p:nvSpPr>
        <p:spPr>
          <a:xfrm>
            <a:off x="694944" y="2569464"/>
            <a:ext cx="1682497"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1C2A42"/>
                </a:solidFill>
                <a:latin typeface="Aptos"/>
                <a:ea typeface="Aptos"/>
                <a:cs typeface="Aptos"/>
                <a:sym typeface="Aptos"/>
              </a:defRPr>
            </a:lvl1pPr>
          </a:lstStyle>
          <a:p>
            <a:r>
              <a:t>Register</a:t>
            </a:r>
          </a:p>
        </p:txBody>
      </p:sp>
      <p:sp>
        <p:nvSpPr>
          <p:cNvPr id="142" name="TextBox 9"/>
          <p:cNvSpPr txBox="1"/>
          <p:nvPr/>
        </p:nvSpPr>
        <p:spPr>
          <a:xfrm>
            <a:off x="694944" y="2935223"/>
            <a:ext cx="1682497" cy="392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1200">
                <a:solidFill>
                  <a:srgbClr val="5B6F91"/>
                </a:solidFill>
                <a:latin typeface="Aptos"/>
                <a:ea typeface="Aptos"/>
                <a:cs typeface="Aptos"/>
                <a:sym typeface="Aptos"/>
              </a:defRPr>
            </a:pPr>
            <a:r>
              <a:t>Name, phone,</a:t>
            </a:r>
            <a:br/>
            <a:r>
              <a:t>age, severity</a:t>
            </a:r>
          </a:p>
        </p:txBody>
      </p:sp>
      <p:sp>
        <p:nvSpPr>
          <p:cNvPr id="143" name="TextBox 10"/>
          <p:cNvSpPr txBox="1"/>
          <p:nvPr/>
        </p:nvSpPr>
        <p:spPr>
          <a:xfrm>
            <a:off x="2560320" y="2496311"/>
            <a:ext cx="219457" cy="366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2200" b="1">
                <a:solidFill>
                  <a:srgbClr val="315BEF"/>
                </a:solidFill>
                <a:latin typeface="Aptos"/>
                <a:ea typeface="Aptos"/>
                <a:cs typeface="Aptos"/>
                <a:sym typeface="Aptos"/>
              </a:defRPr>
            </a:lvl1pPr>
          </a:lstStyle>
          <a:p>
            <a:r>
              <a:t>→</a:t>
            </a:r>
          </a:p>
        </p:txBody>
      </p:sp>
      <p:sp>
        <p:nvSpPr>
          <p:cNvPr id="144" name="Rounded Rectangle 11"/>
          <p:cNvSpPr/>
          <p:nvPr/>
        </p:nvSpPr>
        <p:spPr>
          <a:xfrm>
            <a:off x="2862072" y="1874518"/>
            <a:ext cx="2011680" cy="1508761"/>
          </a:xfrm>
          <a:prstGeom prst="roundRect">
            <a:avLst>
              <a:gd name="adj" fmla="val 16667"/>
            </a:avLst>
          </a:prstGeom>
          <a:solidFill>
            <a:srgbClr val="FFFFFF"/>
          </a:solidFill>
          <a:ln>
            <a:solidFill>
              <a:srgbClr val="DCE4F1"/>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5" name="Rounded Rectangle 12"/>
          <p:cNvSpPr/>
          <p:nvPr/>
        </p:nvSpPr>
        <p:spPr>
          <a:xfrm>
            <a:off x="3026664" y="2057400"/>
            <a:ext cx="384049" cy="384048"/>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46" name="TextBox 13"/>
          <p:cNvSpPr txBox="1"/>
          <p:nvPr/>
        </p:nvSpPr>
        <p:spPr>
          <a:xfrm>
            <a:off x="3054096" y="2148839"/>
            <a:ext cx="329185" cy="21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1200" b="1">
                <a:solidFill>
                  <a:srgbClr val="FFFFFF"/>
                </a:solidFill>
                <a:latin typeface="Aptos"/>
                <a:ea typeface="Aptos"/>
                <a:cs typeface="Aptos"/>
                <a:sym typeface="Aptos"/>
              </a:defRPr>
            </a:lvl1pPr>
          </a:lstStyle>
          <a:p>
            <a:r>
              <a:t>2</a:t>
            </a:r>
          </a:p>
        </p:txBody>
      </p:sp>
      <p:sp>
        <p:nvSpPr>
          <p:cNvPr id="147" name="TextBox 14"/>
          <p:cNvSpPr txBox="1"/>
          <p:nvPr/>
        </p:nvSpPr>
        <p:spPr>
          <a:xfrm>
            <a:off x="3054096" y="2569464"/>
            <a:ext cx="1682497"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1C2A42"/>
                </a:solidFill>
                <a:latin typeface="Aptos"/>
                <a:ea typeface="Aptos"/>
                <a:cs typeface="Aptos"/>
                <a:sym typeface="Aptos"/>
              </a:defRPr>
            </a:lvl1pPr>
          </a:lstStyle>
          <a:p>
            <a:r>
              <a:t>Prioritize</a:t>
            </a:r>
          </a:p>
        </p:txBody>
      </p:sp>
      <p:sp>
        <p:nvSpPr>
          <p:cNvPr id="148" name="TextBox 15"/>
          <p:cNvSpPr txBox="1"/>
          <p:nvPr/>
        </p:nvSpPr>
        <p:spPr>
          <a:xfrm>
            <a:off x="3054096" y="2935223"/>
            <a:ext cx="1682497" cy="4233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1200">
                <a:solidFill>
                  <a:srgbClr val="5B6F91"/>
                </a:solidFill>
                <a:latin typeface="Aptos"/>
                <a:ea typeface="Aptos"/>
                <a:cs typeface="Aptos"/>
                <a:sym typeface="Aptos"/>
              </a:defRPr>
            </a:pPr>
            <a:r>
              <a:t>Critical → Urgent</a:t>
            </a:r>
            <a:br/>
            <a:r>
              <a:t>→ Normal</a:t>
            </a:r>
          </a:p>
        </p:txBody>
      </p:sp>
      <p:sp>
        <p:nvSpPr>
          <p:cNvPr id="149" name="TextBox 16"/>
          <p:cNvSpPr txBox="1"/>
          <p:nvPr/>
        </p:nvSpPr>
        <p:spPr>
          <a:xfrm>
            <a:off x="4919472" y="2496311"/>
            <a:ext cx="219457" cy="366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2200" b="1">
                <a:solidFill>
                  <a:srgbClr val="315BEF"/>
                </a:solidFill>
                <a:latin typeface="Aptos"/>
                <a:ea typeface="Aptos"/>
                <a:cs typeface="Aptos"/>
                <a:sym typeface="Aptos"/>
              </a:defRPr>
            </a:lvl1pPr>
          </a:lstStyle>
          <a:p>
            <a:r>
              <a:t>→</a:t>
            </a:r>
          </a:p>
        </p:txBody>
      </p:sp>
      <p:sp>
        <p:nvSpPr>
          <p:cNvPr id="150" name="Rounded Rectangle 17"/>
          <p:cNvSpPr/>
          <p:nvPr/>
        </p:nvSpPr>
        <p:spPr>
          <a:xfrm>
            <a:off x="5221223" y="1874518"/>
            <a:ext cx="2011681" cy="1508761"/>
          </a:xfrm>
          <a:prstGeom prst="roundRect">
            <a:avLst>
              <a:gd name="adj" fmla="val 16667"/>
            </a:avLst>
          </a:prstGeom>
          <a:solidFill>
            <a:srgbClr val="FFFFFF"/>
          </a:solidFill>
          <a:ln>
            <a:solidFill>
              <a:srgbClr val="DCE4F1"/>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1" name="Rounded Rectangle 18"/>
          <p:cNvSpPr/>
          <p:nvPr/>
        </p:nvSpPr>
        <p:spPr>
          <a:xfrm>
            <a:off x="5385815" y="2057400"/>
            <a:ext cx="384049" cy="384048"/>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2" name="TextBox 19"/>
          <p:cNvSpPr txBox="1"/>
          <p:nvPr/>
        </p:nvSpPr>
        <p:spPr>
          <a:xfrm>
            <a:off x="5413247" y="2148839"/>
            <a:ext cx="329185" cy="21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1200" b="1">
                <a:solidFill>
                  <a:srgbClr val="FFFFFF"/>
                </a:solidFill>
                <a:latin typeface="Aptos"/>
                <a:ea typeface="Aptos"/>
                <a:cs typeface="Aptos"/>
                <a:sym typeface="Aptos"/>
              </a:defRPr>
            </a:lvl1pPr>
          </a:lstStyle>
          <a:p>
            <a:r>
              <a:t>3</a:t>
            </a:r>
          </a:p>
        </p:txBody>
      </p:sp>
      <p:sp>
        <p:nvSpPr>
          <p:cNvPr id="153" name="TextBox 20"/>
          <p:cNvSpPr txBox="1"/>
          <p:nvPr/>
        </p:nvSpPr>
        <p:spPr>
          <a:xfrm>
            <a:off x="5413247" y="2569464"/>
            <a:ext cx="1682498"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1C2A42"/>
                </a:solidFill>
                <a:latin typeface="Aptos"/>
                <a:ea typeface="Aptos"/>
                <a:cs typeface="Aptos"/>
                <a:sym typeface="Aptos"/>
              </a:defRPr>
            </a:lvl1pPr>
          </a:lstStyle>
          <a:p>
            <a:r>
              <a:t>Check resources</a:t>
            </a:r>
          </a:p>
        </p:txBody>
      </p:sp>
      <p:sp>
        <p:nvSpPr>
          <p:cNvPr id="154" name="TextBox 21"/>
          <p:cNvSpPr txBox="1"/>
          <p:nvPr/>
        </p:nvSpPr>
        <p:spPr>
          <a:xfrm>
            <a:off x="5413247" y="2935223"/>
            <a:ext cx="1682498" cy="392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1200">
                <a:solidFill>
                  <a:srgbClr val="5B6F91"/>
                </a:solidFill>
                <a:latin typeface="Aptos"/>
                <a:ea typeface="Aptos"/>
                <a:cs typeface="Aptos"/>
                <a:sym typeface="Aptos"/>
              </a:defRPr>
            </a:pPr>
            <a:r>
              <a:t>Doctor and bed</a:t>
            </a:r>
            <a:br/>
            <a:r>
              <a:t>availability</a:t>
            </a:r>
          </a:p>
        </p:txBody>
      </p:sp>
      <p:sp>
        <p:nvSpPr>
          <p:cNvPr id="155" name="TextBox 22"/>
          <p:cNvSpPr txBox="1"/>
          <p:nvPr/>
        </p:nvSpPr>
        <p:spPr>
          <a:xfrm>
            <a:off x="7278623" y="2496311"/>
            <a:ext cx="219457" cy="366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2200" b="1">
                <a:solidFill>
                  <a:srgbClr val="315BEF"/>
                </a:solidFill>
                <a:latin typeface="Aptos"/>
                <a:ea typeface="Aptos"/>
                <a:cs typeface="Aptos"/>
                <a:sym typeface="Aptos"/>
              </a:defRPr>
            </a:lvl1pPr>
          </a:lstStyle>
          <a:p>
            <a:r>
              <a:t>→</a:t>
            </a:r>
          </a:p>
        </p:txBody>
      </p:sp>
      <p:sp>
        <p:nvSpPr>
          <p:cNvPr id="156" name="Rounded Rectangle 23"/>
          <p:cNvSpPr/>
          <p:nvPr/>
        </p:nvSpPr>
        <p:spPr>
          <a:xfrm>
            <a:off x="7580376" y="1874518"/>
            <a:ext cx="2011680" cy="1508761"/>
          </a:xfrm>
          <a:prstGeom prst="roundRect">
            <a:avLst>
              <a:gd name="adj" fmla="val 16667"/>
            </a:avLst>
          </a:prstGeom>
          <a:solidFill>
            <a:srgbClr val="FFFFFF"/>
          </a:solidFill>
          <a:ln>
            <a:solidFill>
              <a:srgbClr val="DCE4F1"/>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7" name="Rounded Rectangle 24"/>
          <p:cNvSpPr/>
          <p:nvPr/>
        </p:nvSpPr>
        <p:spPr>
          <a:xfrm>
            <a:off x="7744968" y="2057400"/>
            <a:ext cx="384049" cy="384048"/>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58" name="TextBox 25"/>
          <p:cNvSpPr txBox="1"/>
          <p:nvPr/>
        </p:nvSpPr>
        <p:spPr>
          <a:xfrm>
            <a:off x="7772400" y="2148839"/>
            <a:ext cx="329185" cy="21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1200" b="1">
                <a:solidFill>
                  <a:srgbClr val="FFFFFF"/>
                </a:solidFill>
                <a:latin typeface="Aptos"/>
                <a:ea typeface="Aptos"/>
                <a:cs typeface="Aptos"/>
                <a:sym typeface="Aptos"/>
              </a:defRPr>
            </a:lvl1pPr>
          </a:lstStyle>
          <a:p>
            <a:r>
              <a:t>4</a:t>
            </a:r>
          </a:p>
        </p:txBody>
      </p:sp>
      <p:sp>
        <p:nvSpPr>
          <p:cNvPr id="159" name="TextBox 26"/>
          <p:cNvSpPr txBox="1"/>
          <p:nvPr/>
        </p:nvSpPr>
        <p:spPr>
          <a:xfrm>
            <a:off x="7772400" y="2569464"/>
            <a:ext cx="1682497"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1C2A42"/>
                </a:solidFill>
                <a:latin typeface="Aptos"/>
                <a:ea typeface="Aptos"/>
                <a:cs typeface="Aptos"/>
                <a:sym typeface="Aptos"/>
              </a:defRPr>
            </a:lvl1pPr>
          </a:lstStyle>
          <a:p>
            <a:r>
              <a:t>Treat</a:t>
            </a:r>
          </a:p>
        </p:txBody>
      </p:sp>
      <p:sp>
        <p:nvSpPr>
          <p:cNvPr id="160" name="TextBox 27"/>
          <p:cNvSpPr txBox="1"/>
          <p:nvPr/>
        </p:nvSpPr>
        <p:spPr>
          <a:xfrm>
            <a:off x="7772400" y="2935223"/>
            <a:ext cx="1682497" cy="392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1200">
                <a:solidFill>
                  <a:srgbClr val="5B6F91"/>
                </a:solidFill>
                <a:latin typeface="Aptos"/>
                <a:ea typeface="Aptos"/>
                <a:cs typeface="Aptos"/>
                <a:sym typeface="Aptos"/>
              </a:defRPr>
            </a:pPr>
            <a:r>
              <a:t>Assign resources</a:t>
            </a:r>
            <a:br/>
            <a:r>
              <a:t>and start time</a:t>
            </a:r>
          </a:p>
        </p:txBody>
      </p:sp>
      <p:sp>
        <p:nvSpPr>
          <p:cNvPr id="161" name="TextBox 28"/>
          <p:cNvSpPr txBox="1"/>
          <p:nvPr/>
        </p:nvSpPr>
        <p:spPr>
          <a:xfrm>
            <a:off x="9637775" y="2496311"/>
            <a:ext cx="219457" cy="366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2200" b="1">
                <a:solidFill>
                  <a:srgbClr val="315BEF"/>
                </a:solidFill>
                <a:latin typeface="Aptos"/>
                <a:ea typeface="Aptos"/>
                <a:cs typeface="Aptos"/>
                <a:sym typeface="Aptos"/>
              </a:defRPr>
            </a:lvl1pPr>
          </a:lstStyle>
          <a:p>
            <a:r>
              <a:t>→</a:t>
            </a:r>
          </a:p>
        </p:txBody>
      </p:sp>
      <p:sp>
        <p:nvSpPr>
          <p:cNvPr id="162" name="Rounded Rectangle 29"/>
          <p:cNvSpPr/>
          <p:nvPr/>
        </p:nvSpPr>
        <p:spPr>
          <a:xfrm>
            <a:off x="9939528" y="1874518"/>
            <a:ext cx="2011681" cy="1508761"/>
          </a:xfrm>
          <a:prstGeom prst="roundRect">
            <a:avLst>
              <a:gd name="adj" fmla="val 16667"/>
            </a:avLst>
          </a:prstGeom>
          <a:solidFill>
            <a:srgbClr val="FFFFFF"/>
          </a:solidFill>
          <a:ln>
            <a:solidFill>
              <a:srgbClr val="DCE4F1"/>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3" name="Rounded Rectangle 30"/>
          <p:cNvSpPr/>
          <p:nvPr/>
        </p:nvSpPr>
        <p:spPr>
          <a:xfrm>
            <a:off x="10104119" y="2057400"/>
            <a:ext cx="384049" cy="384048"/>
          </a:xfrm>
          <a:prstGeom prst="roundRect">
            <a:avLst>
              <a:gd name="adj" fmla="val 16667"/>
            </a:avLst>
          </a:prstGeom>
          <a:solidFill>
            <a:srgbClr val="315BEF"/>
          </a:solidFill>
          <a:ln>
            <a:solidFill>
              <a:srgbClr val="315BEF"/>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164" name="TextBox 31"/>
          <p:cNvSpPr txBox="1"/>
          <p:nvPr/>
        </p:nvSpPr>
        <p:spPr>
          <a:xfrm>
            <a:off x="10131551" y="2148839"/>
            <a:ext cx="329185" cy="2143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lgn="ctr">
              <a:defRPr sz="1200" b="1">
                <a:solidFill>
                  <a:srgbClr val="FFFFFF"/>
                </a:solidFill>
                <a:latin typeface="Aptos"/>
                <a:ea typeface="Aptos"/>
                <a:cs typeface="Aptos"/>
                <a:sym typeface="Aptos"/>
              </a:defRPr>
            </a:lvl1pPr>
          </a:lstStyle>
          <a:p>
            <a:r>
              <a:t>5</a:t>
            </a:r>
          </a:p>
        </p:txBody>
      </p:sp>
      <p:sp>
        <p:nvSpPr>
          <p:cNvPr id="165" name="TextBox 32"/>
          <p:cNvSpPr txBox="1"/>
          <p:nvPr/>
        </p:nvSpPr>
        <p:spPr>
          <a:xfrm>
            <a:off x="10131551" y="2569464"/>
            <a:ext cx="1682497" cy="265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500" b="1">
                <a:solidFill>
                  <a:srgbClr val="1C2A42"/>
                </a:solidFill>
                <a:latin typeface="Aptos"/>
                <a:ea typeface="Aptos"/>
                <a:cs typeface="Aptos"/>
                <a:sym typeface="Aptos"/>
              </a:defRPr>
            </a:lvl1pPr>
          </a:lstStyle>
          <a:p>
            <a:r>
              <a:t>Complete</a:t>
            </a:r>
          </a:p>
        </p:txBody>
      </p:sp>
      <p:sp>
        <p:nvSpPr>
          <p:cNvPr id="166" name="TextBox 33"/>
          <p:cNvSpPr txBox="1"/>
          <p:nvPr/>
        </p:nvSpPr>
        <p:spPr>
          <a:xfrm>
            <a:off x="10131551" y="2935223"/>
            <a:ext cx="1682497" cy="3921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p>
            <a:pPr>
              <a:defRPr sz="1200">
                <a:solidFill>
                  <a:srgbClr val="5B6F91"/>
                </a:solidFill>
                <a:latin typeface="Aptos"/>
                <a:ea typeface="Aptos"/>
                <a:cs typeface="Aptos"/>
                <a:sym typeface="Aptos"/>
              </a:defRPr>
            </a:pPr>
            <a:r>
              <a:t>Outcome, notes,</a:t>
            </a:r>
            <a:br/>
            <a:r>
              <a:t>release resources</a:t>
            </a:r>
          </a:p>
        </p:txBody>
      </p:sp>
      <p:sp>
        <p:nvSpPr>
          <p:cNvPr id="167" name="TextBox 34"/>
          <p:cNvSpPr txBox="1"/>
          <p:nvPr/>
        </p:nvSpPr>
        <p:spPr>
          <a:xfrm>
            <a:off x="621791" y="4078223"/>
            <a:ext cx="2688337" cy="2905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1700" b="1">
                <a:solidFill>
                  <a:srgbClr val="1C2A42"/>
                </a:solidFill>
                <a:latin typeface="Aptos"/>
                <a:ea typeface="Aptos"/>
                <a:cs typeface="Aptos"/>
                <a:sym typeface="Aptos"/>
              </a:defRPr>
            </a:lvl1pPr>
          </a:lstStyle>
          <a:p>
            <a:r>
              <a:t>Supporting functions</a:t>
            </a:r>
          </a:p>
        </p:txBody>
      </p:sp>
      <p:sp>
        <p:nvSpPr>
          <p:cNvPr id="4" name="TextBox 3">
            <a:extLst>
              <a:ext uri="{FF2B5EF4-FFF2-40B4-BE49-F238E27FC236}">
                <a16:creationId xmlns:a16="http://schemas.microsoft.com/office/drawing/2014/main" id="{66F19B20-8A09-650B-0F5D-3E24C946B385}"/>
              </a:ext>
            </a:extLst>
          </p:cNvPr>
          <p:cNvSpPr txBox="1"/>
          <p:nvPr/>
        </p:nvSpPr>
        <p:spPr>
          <a:xfrm>
            <a:off x="671460" y="4439056"/>
            <a:ext cx="4649669"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indent="-285750">
              <a:buFont typeface="Arial" panose="020B0604020202020204" pitchFamily="34" charset="0"/>
              <a:buChar char="•"/>
            </a:pPr>
            <a:r>
              <a:rPr lang="en-IN" dirty="0"/>
              <a:t>Search and filter by patient details or severity</a:t>
            </a:r>
          </a:p>
          <a:p>
            <a:pPr marL="285750" indent="-285750">
              <a:buFont typeface="Arial" panose="020B0604020202020204" pitchFamily="34" charset="0"/>
              <a:buChar char="•"/>
            </a:pPr>
            <a:r>
              <a:rPr lang="en-IN" dirty="0"/>
              <a:t>Wait-time and resource alerts</a:t>
            </a:r>
          </a:p>
          <a:p>
            <a:pPr marL="285750" indent="-285750">
              <a:buFont typeface="Arial" panose="020B0604020202020204" pitchFamily="34" charset="0"/>
              <a:buChar char="•"/>
            </a:pPr>
            <a:r>
              <a:rPr lang="en-IN" dirty="0"/>
              <a:t>Dashboard charts and CSV export</a:t>
            </a:r>
          </a:p>
          <a:p>
            <a:pPr marL="285750" indent="-285750">
              <a:buFont typeface="Arial" panose="020B0604020202020204" pitchFamily="34" charset="0"/>
              <a:buChar char="•"/>
            </a:pPr>
            <a:r>
              <a:rPr lang="en-IN" dirty="0"/>
              <a:t>Treatment history and notes</a:t>
            </a:r>
          </a:p>
        </p:txBody>
      </p:sp>
      <p:grpSp>
        <p:nvGrpSpPr>
          <p:cNvPr id="12" name="Group 11">
            <a:extLst>
              <a:ext uri="{FF2B5EF4-FFF2-40B4-BE49-F238E27FC236}">
                <a16:creationId xmlns:a16="http://schemas.microsoft.com/office/drawing/2014/main" id="{F15AF62B-DAB2-9FA8-8712-36A56FF32CA1}"/>
              </a:ext>
            </a:extLst>
          </p:cNvPr>
          <p:cNvGrpSpPr/>
          <p:nvPr/>
        </p:nvGrpSpPr>
        <p:grpSpPr>
          <a:xfrm>
            <a:off x="529800" y="6507319"/>
            <a:ext cx="11098387" cy="251450"/>
            <a:chOff x="529800" y="6507319"/>
            <a:chExt cx="11098387" cy="251450"/>
          </a:xfrm>
        </p:grpSpPr>
        <p:grpSp>
          <p:nvGrpSpPr>
            <p:cNvPr id="8" name="Group 7">
              <a:extLst>
                <a:ext uri="{FF2B5EF4-FFF2-40B4-BE49-F238E27FC236}">
                  <a16:creationId xmlns:a16="http://schemas.microsoft.com/office/drawing/2014/main" id="{C8A2703B-BE88-AE71-6EFE-336EC894F531}"/>
                </a:ext>
              </a:extLst>
            </p:cNvPr>
            <p:cNvGrpSpPr/>
            <p:nvPr/>
          </p:nvGrpSpPr>
          <p:grpSpPr>
            <a:xfrm>
              <a:off x="529800" y="6507319"/>
              <a:ext cx="11098387" cy="251450"/>
              <a:chOff x="529800" y="6507319"/>
              <a:chExt cx="11098387" cy="251450"/>
            </a:xfrm>
          </p:grpSpPr>
          <p:sp>
            <p:nvSpPr>
              <p:cNvPr id="9" name="Rectangle 8">
                <a:extLst>
                  <a:ext uri="{FF2B5EF4-FFF2-40B4-BE49-F238E27FC236}">
                    <a16:creationId xmlns:a16="http://schemas.microsoft.com/office/drawing/2014/main" id="{FC46A137-9680-8359-E6E4-6C5DB17096AA}"/>
                  </a:ext>
                </a:extLst>
              </p:cNvPr>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8"/>
              </a:p>
            </p:txBody>
          </p:sp>
          <p:sp>
            <p:nvSpPr>
              <p:cNvPr id="10" name="TextBox 9">
                <a:extLst>
                  <a:ext uri="{FF2B5EF4-FFF2-40B4-BE49-F238E27FC236}">
                    <a16:creationId xmlns:a16="http://schemas.microsoft.com/office/drawing/2014/main" id="{DDDFCF8D-0710-4350-64E3-D18BD3E80CAC}"/>
                  </a:ext>
                </a:extLst>
              </p:cNvPr>
              <p:cNvSpPr txBox="1"/>
              <p:nvPr/>
            </p:nvSpPr>
            <p:spPr>
              <a:xfrm>
                <a:off x="548068" y="6562125"/>
                <a:ext cx="8221028" cy="196644"/>
              </a:xfrm>
              <a:prstGeom prst="rect">
                <a:avLst/>
              </a:prstGeom>
              <a:noFill/>
            </p:spPr>
            <p:txBody>
              <a:bodyPr wrap="square" lIns="36538" tIns="36538" rIns="36538" bIns="36538" anchor="t">
                <a:spAutoFit/>
              </a:bodyPr>
              <a:lstStyle/>
              <a:p>
                <a:pPr algn="l"/>
                <a:r>
                  <a:rPr sz="799" b="1">
                    <a:solidFill>
                      <a:srgbClr val="657794"/>
                    </a:solidFill>
                    <a:latin typeface="Aptos"/>
                  </a:rPr>
                  <a:t>CAREQUEUE  •  COMPUTATIONAL THINKING &amp; PROGRAMMING</a:t>
                </a:r>
              </a:p>
            </p:txBody>
          </p:sp>
        </p:grpSp>
        <p:sp>
          <p:nvSpPr>
            <p:cNvPr id="11" name="TextBox 10">
              <a:extLst>
                <a:ext uri="{FF2B5EF4-FFF2-40B4-BE49-F238E27FC236}">
                  <a16:creationId xmlns:a16="http://schemas.microsoft.com/office/drawing/2014/main" id="{B70129DE-B0A9-4AC3-C1B2-708F03CB3BD9}"/>
                </a:ext>
              </a:extLst>
            </p:cNvPr>
            <p:cNvSpPr txBox="1"/>
            <p:nvPr/>
          </p:nvSpPr>
          <p:spPr>
            <a:xfrm>
              <a:off x="11125791" y="6543856"/>
              <a:ext cx="411051" cy="212017"/>
            </a:xfrm>
            <a:prstGeom prst="rect">
              <a:avLst/>
            </a:prstGeom>
            <a:noFill/>
          </p:spPr>
          <p:txBody>
            <a:bodyPr wrap="square" lIns="36538" tIns="36538" rIns="36538" bIns="36538" anchor="t">
              <a:spAutoFit/>
            </a:bodyPr>
            <a:lstStyle/>
            <a:p>
              <a:pPr algn="r"/>
              <a:r>
                <a:rPr sz="899" b="1" dirty="0">
                  <a:solidFill>
                    <a:srgbClr val="657794"/>
                  </a:solidFill>
                  <a:latin typeface="Aptos"/>
                </a:rPr>
                <a:t>0</a:t>
              </a:r>
              <a:r>
                <a:rPr lang="en-US" sz="899" b="1" dirty="0">
                  <a:solidFill>
                    <a:srgbClr val="657794"/>
                  </a:solidFill>
                  <a:latin typeface="Aptos"/>
                </a:rPr>
                <a:t>3</a:t>
              </a:r>
              <a:endParaRPr sz="899" b="1" dirty="0">
                <a:solidFill>
                  <a:srgbClr val="657794"/>
                </a:solidFill>
                <a:latin typeface="Aptos"/>
              </a:endParaRP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930"/>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27BEAE"/>
                </a:solidFill>
                <a:latin typeface="Aptos"/>
              </a:rPr>
              <a:t>COMPUTATIONAL THINKING</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F7F9FD"/>
                </a:solidFill>
                <a:latin typeface="Aptos"/>
              </a:rPr>
              <a:t>Problem decomposition: one problem, focused modules</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AEBED8"/>
                </a:solidFill>
                <a:latin typeface="Aptos"/>
              </a:rPr>
              <a:t>Each module owns one responsibility and communicates through shared patient/resource records.</a:t>
            </a:r>
          </a:p>
        </p:txBody>
      </p:sp>
      <p:sp>
        <p:nvSpPr>
          <p:cNvPr id="5" name="Rectangle 4"/>
          <p:cNvSpPr/>
          <p:nvPr/>
        </p:nvSpPr>
        <p:spPr>
          <a:xfrm>
            <a:off x="529800" y="6507319"/>
            <a:ext cx="11098387" cy="16442"/>
          </a:xfrm>
          <a:prstGeom prst="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AEBED8"/>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dirty="0">
                <a:solidFill>
                  <a:srgbClr val="AEBED8"/>
                </a:solidFill>
                <a:latin typeface="Aptos"/>
              </a:rPr>
              <a:t>0</a:t>
            </a:r>
            <a:r>
              <a:rPr lang="en-US" sz="899" b="1" kern="1200" dirty="0">
                <a:solidFill>
                  <a:srgbClr val="AEBED8"/>
                </a:solidFill>
                <a:latin typeface="Aptos"/>
              </a:rPr>
              <a:t>4</a:t>
            </a:r>
            <a:endParaRPr sz="899" b="1" kern="1200" dirty="0">
              <a:solidFill>
                <a:srgbClr val="AEBED8"/>
              </a:solidFill>
              <a:latin typeface="Aptos"/>
            </a:endParaRPr>
          </a:p>
        </p:txBody>
      </p:sp>
      <p:sp>
        <p:nvSpPr>
          <p:cNvPr id="8" name="Rounded Rectangle 7"/>
          <p:cNvSpPr/>
          <p:nvPr/>
        </p:nvSpPr>
        <p:spPr>
          <a:xfrm>
            <a:off x="548068" y="1921812"/>
            <a:ext cx="2055257" cy="1233154"/>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TextBox 8"/>
          <p:cNvSpPr txBox="1"/>
          <p:nvPr/>
        </p:nvSpPr>
        <p:spPr>
          <a:xfrm>
            <a:off x="712489" y="2058829"/>
            <a:ext cx="411051"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01</a:t>
            </a:r>
          </a:p>
        </p:txBody>
      </p:sp>
      <p:sp>
        <p:nvSpPr>
          <p:cNvPr id="10" name="TextBox 9"/>
          <p:cNvSpPr txBox="1"/>
          <p:nvPr/>
        </p:nvSpPr>
        <p:spPr>
          <a:xfrm>
            <a:off x="712489" y="2369401"/>
            <a:ext cx="1735550" cy="304254"/>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Patient intake</a:t>
            </a:r>
          </a:p>
        </p:txBody>
      </p:sp>
      <p:sp>
        <p:nvSpPr>
          <p:cNvPr id="11" name="TextBox 10"/>
          <p:cNvSpPr txBox="1"/>
          <p:nvPr/>
        </p:nvSpPr>
        <p:spPr>
          <a:xfrm>
            <a:off x="712489" y="2762183"/>
            <a:ext cx="1735550" cy="227389"/>
          </a:xfrm>
          <a:prstGeom prst="rect">
            <a:avLst/>
          </a:prstGeom>
          <a:noFill/>
        </p:spPr>
        <p:txBody>
          <a:bodyPr wrap="square" lIns="36538" tIns="36538" rIns="36538" bIns="36538" anchor="t">
            <a:spAutoFit/>
          </a:bodyPr>
          <a:lstStyle/>
          <a:p>
            <a:pPr defTabSz="456743" hangingPunct="1"/>
            <a:r>
              <a:rPr sz="999" kern="1200">
                <a:solidFill>
                  <a:srgbClr val="B0C3DC"/>
                </a:solidFill>
                <a:latin typeface="Aptos"/>
              </a:rPr>
              <a:t>/patients</a:t>
            </a:r>
          </a:p>
        </p:txBody>
      </p:sp>
      <p:sp>
        <p:nvSpPr>
          <p:cNvPr id="12" name="TextBox 11"/>
          <p:cNvSpPr txBox="1"/>
          <p:nvPr/>
        </p:nvSpPr>
        <p:spPr>
          <a:xfrm>
            <a:off x="2630729" y="2351132"/>
            <a:ext cx="228362" cy="350180"/>
          </a:xfrm>
          <a:prstGeom prst="rect">
            <a:avLst/>
          </a:prstGeom>
          <a:noFill/>
        </p:spPr>
        <p:txBody>
          <a:bodyPr wrap="square" lIns="36538" tIns="36538" rIns="36538" bIns="36538" anchor="t">
            <a:spAutoFit/>
          </a:bodyPr>
          <a:lstStyle/>
          <a:p>
            <a:pPr algn="ctr" defTabSz="456743" hangingPunct="1"/>
            <a:r>
              <a:rPr sz="1798" b="1" kern="1200">
                <a:solidFill>
                  <a:srgbClr val="27BEAE"/>
                </a:solidFill>
                <a:latin typeface="Aptos"/>
              </a:rPr>
              <a:t>→</a:t>
            </a:r>
          </a:p>
        </p:txBody>
      </p:sp>
      <p:sp>
        <p:nvSpPr>
          <p:cNvPr id="13" name="Rounded Rectangle 12"/>
          <p:cNvSpPr/>
          <p:nvPr/>
        </p:nvSpPr>
        <p:spPr>
          <a:xfrm>
            <a:off x="2877360" y="1921812"/>
            <a:ext cx="2055257" cy="1233154"/>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3041780" y="2058829"/>
            <a:ext cx="411051"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02</a:t>
            </a:r>
          </a:p>
        </p:txBody>
      </p:sp>
      <p:sp>
        <p:nvSpPr>
          <p:cNvPr id="15" name="TextBox 14"/>
          <p:cNvSpPr txBox="1"/>
          <p:nvPr/>
        </p:nvSpPr>
        <p:spPr>
          <a:xfrm>
            <a:off x="3041780" y="2369401"/>
            <a:ext cx="1735550" cy="304254"/>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Priority queue</a:t>
            </a:r>
          </a:p>
        </p:txBody>
      </p:sp>
      <p:sp>
        <p:nvSpPr>
          <p:cNvPr id="16" name="TextBox 15"/>
          <p:cNvSpPr txBox="1"/>
          <p:nvPr/>
        </p:nvSpPr>
        <p:spPr>
          <a:xfrm>
            <a:off x="3041780" y="2762183"/>
            <a:ext cx="1735550" cy="227389"/>
          </a:xfrm>
          <a:prstGeom prst="rect">
            <a:avLst/>
          </a:prstGeom>
          <a:noFill/>
        </p:spPr>
        <p:txBody>
          <a:bodyPr wrap="square" lIns="36538" tIns="36538" rIns="36538" bIns="36538" anchor="t">
            <a:spAutoFit/>
          </a:bodyPr>
          <a:lstStyle/>
          <a:p>
            <a:pPr defTabSz="456743" hangingPunct="1"/>
            <a:r>
              <a:rPr sz="999" kern="1200">
                <a:solidFill>
                  <a:srgbClr val="B0C3DC"/>
                </a:solidFill>
                <a:latin typeface="Aptos"/>
              </a:rPr>
              <a:t>/queue-management</a:t>
            </a:r>
          </a:p>
        </p:txBody>
      </p:sp>
      <p:sp>
        <p:nvSpPr>
          <p:cNvPr id="17" name="TextBox 16"/>
          <p:cNvSpPr txBox="1"/>
          <p:nvPr/>
        </p:nvSpPr>
        <p:spPr>
          <a:xfrm>
            <a:off x="4960020" y="2351132"/>
            <a:ext cx="228362" cy="350180"/>
          </a:xfrm>
          <a:prstGeom prst="rect">
            <a:avLst/>
          </a:prstGeom>
          <a:noFill/>
        </p:spPr>
        <p:txBody>
          <a:bodyPr wrap="square" lIns="36538" tIns="36538" rIns="36538" bIns="36538" anchor="t">
            <a:spAutoFit/>
          </a:bodyPr>
          <a:lstStyle/>
          <a:p>
            <a:pPr algn="ctr" defTabSz="456743" hangingPunct="1"/>
            <a:r>
              <a:rPr sz="1798" b="1" kern="1200">
                <a:solidFill>
                  <a:srgbClr val="27BEAE"/>
                </a:solidFill>
                <a:latin typeface="Aptos"/>
              </a:rPr>
              <a:t>→</a:t>
            </a:r>
          </a:p>
        </p:txBody>
      </p:sp>
      <p:sp>
        <p:nvSpPr>
          <p:cNvPr id="18" name="Rounded Rectangle 17"/>
          <p:cNvSpPr/>
          <p:nvPr/>
        </p:nvSpPr>
        <p:spPr>
          <a:xfrm>
            <a:off x="5206650" y="1921812"/>
            <a:ext cx="2055257" cy="1233154"/>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9" name="TextBox 18"/>
          <p:cNvSpPr txBox="1"/>
          <p:nvPr/>
        </p:nvSpPr>
        <p:spPr>
          <a:xfrm>
            <a:off x="5371070" y="2058829"/>
            <a:ext cx="411051"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03</a:t>
            </a:r>
          </a:p>
        </p:txBody>
      </p:sp>
      <p:sp>
        <p:nvSpPr>
          <p:cNvPr id="20" name="TextBox 19"/>
          <p:cNvSpPr txBox="1"/>
          <p:nvPr/>
        </p:nvSpPr>
        <p:spPr>
          <a:xfrm>
            <a:off x="5371070" y="2369401"/>
            <a:ext cx="1735550" cy="304254"/>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Resource rules</a:t>
            </a:r>
          </a:p>
        </p:txBody>
      </p:sp>
      <p:sp>
        <p:nvSpPr>
          <p:cNvPr id="21" name="TextBox 20"/>
          <p:cNvSpPr txBox="1"/>
          <p:nvPr/>
        </p:nvSpPr>
        <p:spPr>
          <a:xfrm>
            <a:off x="5371070" y="2762183"/>
            <a:ext cx="1735550" cy="380989"/>
          </a:xfrm>
          <a:prstGeom prst="rect">
            <a:avLst/>
          </a:prstGeom>
          <a:noFill/>
        </p:spPr>
        <p:txBody>
          <a:bodyPr wrap="square" lIns="36538" tIns="36538" rIns="36538" bIns="36538" anchor="t">
            <a:spAutoFit/>
          </a:bodyPr>
          <a:lstStyle/>
          <a:p>
            <a:pPr defTabSz="456743" hangingPunct="1"/>
            <a:r>
              <a:rPr sz="999" kern="1200">
                <a:solidFill>
                  <a:srgbClr val="B0C3DC"/>
                </a:solidFill>
                <a:latin typeface="Aptos"/>
              </a:rPr>
              <a:t>doctor_suggestion()
resource_rules()</a:t>
            </a:r>
          </a:p>
        </p:txBody>
      </p:sp>
      <p:sp>
        <p:nvSpPr>
          <p:cNvPr id="22" name="TextBox 21"/>
          <p:cNvSpPr txBox="1"/>
          <p:nvPr/>
        </p:nvSpPr>
        <p:spPr>
          <a:xfrm>
            <a:off x="7289310" y="2351132"/>
            <a:ext cx="228362" cy="350180"/>
          </a:xfrm>
          <a:prstGeom prst="rect">
            <a:avLst/>
          </a:prstGeom>
          <a:noFill/>
        </p:spPr>
        <p:txBody>
          <a:bodyPr wrap="square" lIns="36538" tIns="36538" rIns="36538" bIns="36538" anchor="t">
            <a:spAutoFit/>
          </a:bodyPr>
          <a:lstStyle/>
          <a:p>
            <a:pPr algn="ctr" defTabSz="456743" hangingPunct="1"/>
            <a:r>
              <a:rPr sz="1798" b="1" kern="1200">
                <a:solidFill>
                  <a:srgbClr val="27BEAE"/>
                </a:solidFill>
                <a:latin typeface="Aptos"/>
              </a:rPr>
              <a:t>→</a:t>
            </a:r>
          </a:p>
        </p:txBody>
      </p:sp>
      <p:sp>
        <p:nvSpPr>
          <p:cNvPr id="23" name="Rounded Rectangle 22"/>
          <p:cNvSpPr/>
          <p:nvPr/>
        </p:nvSpPr>
        <p:spPr>
          <a:xfrm>
            <a:off x="7535942" y="1921812"/>
            <a:ext cx="2055257" cy="1233154"/>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4" name="TextBox 23"/>
          <p:cNvSpPr txBox="1"/>
          <p:nvPr/>
        </p:nvSpPr>
        <p:spPr>
          <a:xfrm>
            <a:off x="7700363" y="2058829"/>
            <a:ext cx="411051"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04</a:t>
            </a:r>
          </a:p>
        </p:txBody>
      </p:sp>
      <p:sp>
        <p:nvSpPr>
          <p:cNvPr id="25" name="TextBox 24"/>
          <p:cNvSpPr txBox="1"/>
          <p:nvPr/>
        </p:nvSpPr>
        <p:spPr>
          <a:xfrm>
            <a:off x="7700363" y="2369401"/>
            <a:ext cx="1735550" cy="304254"/>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Start treatment</a:t>
            </a:r>
          </a:p>
        </p:txBody>
      </p:sp>
      <p:sp>
        <p:nvSpPr>
          <p:cNvPr id="26" name="TextBox 25"/>
          <p:cNvSpPr txBox="1"/>
          <p:nvPr/>
        </p:nvSpPr>
        <p:spPr>
          <a:xfrm>
            <a:off x="7700363" y="2762183"/>
            <a:ext cx="1735550" cy="227389"/>
          </a:xfrm>
          <a:prstGeom prst="rect">
            <a:avLst/>
          </a:prstGeom>
          <a:noFill/>
        </p:spPr>
        <p:txBody>
          <a:bodyPr wrap="square" lIns="36538" tIns="36538" rIns="36538" bIns="36538" anchor="t">
            <a:spAutoFit/>
          </a:bodyPr>
          <a:lstStyle/>
          <a:p>
            <a:pPr defTabSz="456743" hangingPunct="1"/>
            <a:r>
              <a:rPr sz="999" kern="1200">
                <a:solidFill>
                  <a:srgbClr val="B0C3DC"/>
                </a:solidFill>
                <a:latin typeface="Aptos"/>
              </a:rPr>
              <a:t>/treat-next</a:t>
            </a:r>
          </a:p>
        </p:txBody>
      </p:sp>
      <p:sp>
        <p:nvSpPr>
          <p:cNvPr id="27" name="TextBox 26"/>
          <p:cNvSpPr txBox="1"/>
          <p:nvPr/>
        </p:nvSpPr>
        <p:spPr>
          <a:xfrm>
            <a:off x="9618602" y="2351132"/>
            <a:ext cx="228362" cy="350180"/>
          </a:xfrm>
          <a:prstGeom prst="rect">
            <a:avLst/>
          </a:prstGeom>
          <a:noFill/>
        </p:spPr>
        <p:txBody>
          <a:bodyPr wrap="square" lIns="36538" tIns="36538" rIns="36538" bIns="36538" anchor="t">
            <a:spAutoFit/>
          </a:bodyPr>
          <a:lstStyle/>
          <a:p>
            <a:pPr algn="ctr" defTabSz="456743" hangingPunct="1"/>
            <a:r>
              <a:rPr sz="1798" b="1" kern="1200">
                <a:solidFill>
                  <a:srgbClr val="27BEAE"/>
                </a:solidFill>
                <a:latin typeface="Aptos"/>
              </a:rPr>
              <a:t>→</a:t>
            </a:r>
          </a:p>
        </p:txBody>
      </p:sp>
      <p:sp>
        <p:nvSpPr>
          <p:cNvPr id="28" name="Rounded Rectangle 27"/>
          <p:cNvSpPr/>
          <p:nvPr/>
        </p:nvSpPr>
        <p:spPr>
          <a:xfrm>
            <a:off x="9865232" y="1921812"/>
            <a:ext cx="2055257" cy="1233154"/>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9" name="TextBox 28"/>
          <p:cNvSpPr txBox="1"/>
          <p:nvPr/>
        </p:nvSpPr>
        <p:spPr>
          <a:xfrm>
            <a:off x="10029653" y="2058829"/>
            <a:ext cx="411051"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05</a:t>
            </a:r>
          </a:p>
        </p:txBody>
      </p:sp>
      <p:sp>
        <p:nvSpPr>
          <p:cNvPr id="30" name="TextBox 29"/>
          <p:cNvSpPr txBox="1"/>
          <p:nvPr/>
        </p:nvSpPr>
        <p:spPr>
          <a:xfrm>
            <a:off x="10029653" y="2369401"/>
            <a:ext cx="1735550" cy="304254"/>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History &amp; export</a:t>
            </a:r>
          </a:p>
        </p:txBody>
      </p:sp>
      <p:sp>
        <p:nvSpPr>
          <p:cNvPr id="31" name="TextBox 30"/>
          <p:cNvSpPr txBox="1"/>
          <p:nvPr/>
        </p:nvSpPr>
        <p:spPr>
          <a:xfrm>
            <a:off x="10029653" y="2762183"/>
            <a:ext cx="1735550" cy="380989"/>
          </a:xfrm>
          <a:prstGeom prst="rect">
            <a:avLst/>
          </a:prstGeom>
          <a:noFill/>
        </p:spPr>
        <p:txBody>
          <a:bodyPr wrap="square" lIns="36538" tIns="36538" rIns="36538" bIns="36538" anchor="t">
            <a:spAutoFit/>
          </a:bodyPr>
          <a:lstStyle/>
          <a:p>
            <a:pPr defTabSz="456743" hangingPunct="1"/>
            <a:r>
              <a:rPr sz="999" kern="1200">
                <a:solidFill>
                  <a:srgbClr val="B0C3DC"/>
                </a:solidFill>
                <a:latin typeface="Aptos"/>
              </a:rPr>
              <a:t>/history
/history.csv</a:t>
            </a:r>
          </a:p>
        </p:txBody>
      </p:sp>
      <p:sp>
        <p:nvSpPr>
          <p:cNvPr id="32" name="Rounded Rectangle 31"/>
          <p:cNvSpPr/>
          <p:nvPr/>
        </p:nvSpPr>
        <p:spPr>
          <a:xfrm>
            <a:off x="593741" y="3794379"/>
            <a:ext cx="3516773" cy="1370171"/>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3" name="Rectangle 32"/>
          <p:cNvSpPr/>
          <p:nvPr/>
        </p:nvSpPr>
        <p:spPr>
          <a:xfrm>
            <a:off x="593741" y="3794379"/>
            <a:ext cx="63941" cy="1370171"/>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4" name="TextBox 33"/>
          <p:cNvSpPr txBox="1"/>
          <p:nvPr/>
        </p:nvSpPr>
        <p:spPr>
          <a:xfrm>
            <a:off x="776430" y="3940531"/>
            <a:ext cx="318793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Abstraction</a:t>
            </a:r>
          </a:p>
        </p:txBody>
      </p:sp>
      <p:sp>
        <p:nvSpPr>
          <p:cNvPr id="35" name="TextBox 34"/>
          <p:cNvSpPr txBox="1"/>
          <p:nvPr/>
        </p:nvSpPr>
        <p:spPr>
          <a:xfrm>
            <a:off x="776430" y="4315044"/>
            <a:ext cx="3169663" cy="442481"/>
          </a:xfrm>
          <a:prstGeom prst="rect">
            <a:avLst/>
          </a:prstGeom>
          <a:noFill/>
        </p:spPr>
        <p:txBody>
          <a:bodyPr wrap="square" lIns="36538" tIns="36538" rIns="36538" bIns="36538" anchor="t">
            <a:spAutoFit/>
          </a:bodyPr>
          <a:lstStyle/>
          <a:p>
            <a:pPr defTabSz="456743" hangingPunct="1"/>
            <a:r>
              <a:rPr sz="1199" kern="1200" dirty="0">
                <a:solidFill>
                  <a:srgbClr val="BECCE2"/>
                </a:solidFill>
                <a:latin typeface="Aptos"/>
              </a:rPr>
              <a:t>Helper functions hide details</a:t>
            </a:r>
            <a:r>
              <a:rPr lang="en-US" sz="1199" kern="1200" dirty="0">
                <a:solidFill>
                  <a:srgbClr val="BECCE2"/>
                </a:solidFill>
                <a:latin typeface="Aptos"/>
              </a:rPr>
              <a:t> like</a:t>
            </a:r>
            <a:r>
              <a:rPr sz="1199" kern="1200" dirty="0">
                <a:solidFill>
                  <a:srgbClr val="BECCE2"/>
                </a:solidFill>
                <a:latin typeface="Aptos"/>
              </a:rPr>
              <a:t> route code calls queue, doctor, and equipment logic.</a:t>
            </a:r>
          </a:p>
        </p:txBody>
      </p:sp>
      <p:sp>
        <p:nvSpPr>
          <p:cNvPr id="36" name="Rounded Rectangle 35"/>
          <p:cNvSpPr/>
          <p:nvPr/>
        </p:nvSpPr>
        <p:spPr>
          <a:xfrm>
            <a:off x="4338876" y="3794379"/>
            <a:ext cx="3516773" cy="1370171"/>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7" name="Rectangle 36"/>
          <p:cNvSpPr/>
          <p:nvPr/>
        </p:nvSpPr>
        <p:spPr>
          <a:xfrm>
            <a:off x="4338876" y="3794379"/>
            <a:ext cx="63941" cy="1370171"/>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8" name="TextBox 37"/>
          <p:cNvSpPr txBox="1"/>
          <p:nvPr/>
        </p:nvSpPr>
        <p:spPr>
          <a:xfrm>
            <a:off x="4521565" y="3940531"/>
            <a:ext cx="318793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Separation of concerns</a:t>
            </a:r>
          </a:p>
        </p:txBody>
      </p:sp>
      <p:sp>
        <p:nvSpPr>
          <p:cNvPr id="39" name="TextBox 38"/>
          <p:cNvSpPr txBox="1"/>
          <p:nvPr/>
        </p:nvSpPr>
        <p:spPr>
          <a:xfrm>
            <a:off x="4521565" y="4315044"/>
            <a:ext cx="3169663"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HTML templates handle presentation; Flask handles workflow; SQLite persists state.</a:t>
            </a:r>
          </a:p>
        </p:txBody>
      </p:sp>
      <p:sp>
        <p:nvSpPr>
          <p:cNvPr id="40" name="Rounded Rectangle 39"/>
          <p:cNvSpPr/>
          <p:nvPr/>
        </p:nvSpPr>
        <p:spPr>
          <a:xfrm>
            <a:off x="8084010" y="3794379"/>
            <a:ext cx="3516773" cy="1370171"/>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41" name="Rectangle 40"/>
          <p:cNvSpPr/>
          <p:nvPr/>
        </p:nvSpPr>
        <p:spPr>
          <a:xfrm>
            <a:off x="8084011" y="3794379"/>
            <a:ext cx="63941" cy="1370171"/>
          </a:xfrm>
          <a:prstGeom prst="rect">
            <a:avLst/>
          </a:prstGeom>
          <a:solidFill>
            <a:srgbClr val="64DC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42" name="TextBox 41"/>
          <p:cNvSpPr txBox="1"/>
          <p:nvPr/>
        </p:nvSpPr>
        <p:spPr>
          <a:xfrm>
            <a:off x="8266699" y="3940531"/>
            <a:ext cx="318793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Why it matters</a:t>
            </a:r>
          </a:p>
        </p:txBody>
      </p:sp>
      <p:sp>
        <p:nvSpPr>
          <p:cNvPr id="43" name="TextBox 42"/>
          <p:cNvSpPr txBox="1"/>
          <p:nvPr/>
        </p:nvSpPr>
        <p:spPr>
          <a:xfrm>
            <a:off x="8266699" y="4315044"/>
            <a:ext cx="3169663"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Modules can be tested independently and changed without rewriting the whole app.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VALIDATION</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Patient registration: validate before changing state</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Input validation protects the database from invalid or duplicate active records.</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657794"/>
                </a:solidFill>
                <a:latin typeface="Aptos"/>
              </a:rPr>
              <a:t>05</a:t>
            </a:r>
          </a:p>
        </p:txBody>
      </p:sp>
      <p:sp>
        <p:nvSpPr>
          <p:cNvPr id="8" name="Rounded Rectangle 7"/>
          <p:cNvSpPr/>
          <p:nvPr/>
        </p:nvSpPr>
        <p:spPr>
          <a:xfrm>
            <a:off x="593740" y="1629509"/>
            <a:ext cx="6013798" cy="3326809"/>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grpSp>
        <p:nvGrpSpPr>
          <p:cNvPr id="26" name="Group 25">
            <a:extLst>
              <a:ext uri="{FF2B5EF4-FFF2-40B4-BE49-F238E27FC236}">
                <a16:creationId xmlns:a16="http://schemas.microsoft.com/office/drawing/2014/main" id="{38A60E2B-5947-7715-4EB4-85B3A42DAC13}"/>
              </a:ext>
            </a:extLst>
          </p:cNvPr>
          <p:cNvGrpSpPr/>
          <p:nvPr/>
        </p:nvGrpSpPr>
        <p:grpSpPr>
          <a:xfrm>
            <a:off x="1802804" y="5115241"/>
            <a:ext cx="3242739" cy="1233154"/>
            <a:chOff x="4521565" y="1739122"/>
            <a:chExt cx="3242739" cy="1233154"/>
          </a:xfrm>
        </p:grpSpPr>
        <p:sp>
          <p:nvSpPr>
            <p:cNvPr id="10" name="Rounded Rectangle 9"/>
            <p:cNvSpPr/>
            <p:nvPr/>
          </p:nvSpPr>
          <p:spPr>
            <a:xfrm>
              <a:off x="4521565" y="1739122"/>
              <a:ext cx="3242739" cy="123315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1" name="Rectangle 10"/>
            <p:cNvSpPr/>
            <p:nvPr/>
          </p:nvSpPr>
          <p:spPr>
            <a:xfrm>
              <a:off x="4521565" y="1739122"/>
              <a:ext cx="63941" cy="1233154"/>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2" name="TextBox 11"/>
            <p:cNvSpPr txBox="1"/>
            <p:nvPr/>
          </p:nvSpPr>
          <p:spPr>
            <a:xfrm>
              <a:off x="4704254" y="1885274"/>
              <a:ext cx="2913898"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Validation rules</a:t>
              </a:r>
            </a:p>
          </p:txBody>
        </p:sp>
        <p:sp>
          <p:nvSpPr>
            <p:cNvPr id="13" name="TextBox 12"/>
            <p:cNvSpPr txBox="1"/>
            <p:nvPr/>
          </p:nvSpPr>
          <p:spPr>
            <a:xfrm>
              <a:off x="4704254" y="2259787"/>
              <a:ext cx="2895629" cy="627403"/>
            </a:xfrm>
            <a:prstGeom prst="rect">
              <a:avLst/>
            </a:prstGeom>
            <a:noFill/>
          </p:spPr>
          <p:txBody>
            <a:bodyPr wrap="square" lIns="36538" tIns="36538" rIns="36538" bIns="36538" anchor="t">
              <a:spAutoFit/>
            </a:bodyPr>
            <a:lstStyle/>
            <a:p>
              <a:pPr defTabSz="456743" hangingPunct="1"/>
              <a:r>
                <a:rPr sz="1199" kern="1200" dirty="0">
                  <a:solidFill>
                    <a:srgbClr val="657794"/>
                  </a:solidFill>
                  <a:latin typeface="Aptos"/>
                </a:rPr>
                <a:t>Required name, age 0–120, valid severity, phone validation, and duplicate-active-patient rejection.</a:t>
              </a:r>
            </a:p>
          </p:txBody>
        </p:sp>
      </p:grpSp>
      <p:sp>
        <p:nvSpPr>
          <p:cNvPr id="15" name="Rectangle 14"/>
          <p:cNvSpPr/>
          <p:nvPr/>
        </p:nvSpPr>
        <p:spPr>
          <a:xfrm>
            <a:off x="6523563" y="5134423"/>
            <a:ext cx="63941" cy="1233154"/>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grpSp>
        <p:nvGrpSpPr>
          <p:cNvPr id="25" name="Group 24">
            <a:extLst>
              <a:ext uri="{FF2B5EF4-FFF2-40B4-BE49-F238E27FC236}">
                <a16:creationId xmlns:a16="http://schemas.microsoft.com/office/drawing/2014/main" id="{A471B9BD-FCF5-04DF-FC9A-F16B8295051B}"/>
              </a:ext>
            </a:extLst>
          </p:cNvPr>
          <p:cNvGrpSpPr/>
          <p:nvPr/>
        </p:nvGrpSpPr>
        <p:grpSpPr>
          <a:xfrm>
            <a:off x="6587505" y="5115241"/>
            <a:ext cx="3471101" cy="1233154"/>
            <a:chOff x="8566658" y="3069256"/>
            <a:chExt cx="3471101" cy="1233154"/>
          </a:xfrm>
        </p:grpSpPr>
        <p:sp>
          <p:nvSpPr>
            <p:cNvPr id="14" name="Rounded Rectangle 13"/>
            <p:cNvSpPr/>
            <p:nvPr/>
          </p:nvSpPr>
          <p:spPr>
            <a:xfrm>
              <a:off x="8566658" y="3069256"/>
              <a:ext cx="3471101" cy="1233154"/>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6" name="TextBox 15"/>
            <p:cNvSpPr txBox="1"/>
            <p:nvPr/>
          </p:nvSpPr>
          <p:spPr>
            <a:xfrm>
              <a:off x="8721944" y="3225641"/>
              <a:ext cx="3142259" cy="310572"/>
            </a:xfrm>
            <a:prstGeom prst="rect">
              <a:avLst/>
            </a:prstGeom>
            <a:noFill/>
          </p:spPr>
          <p:txBody>
            <a:bodyPr wrap="square" lIns="36538" tIns="36538" rIns="36538" bIns="36538" anchor="t">
              <a:spAutoFit/>
            </a:bodyPr>
            <a:lstStyle/>
            <a:p>
              <a:pPr defTabSz="456743" hangingPunct="1"/>
              <a:r>
                <a:rPr sz="1499" b="1" kern="1200" dirty="0">
                  <a:solidFill>
                    <a:srgbClr val="19273F"/>
                  </a:solidFill>
                  <a:latin typeface="Aptos"/>
                </a:rPr>
                <a:t>Abstraction</a:t>
              </a:r>
            </a:p>
          </p:txBody>
        </p:sp>
        <p:sp>
          <p:nvSpPr>
            <p:cNvPr id="17" name="TextBox 16"/>
            <p:cNvSpPr txBox="1"/>
            <p:nvPr/>
          </p:nvSpPr>
          <p:spPr>
            <a:xfrm>
              <a:off x="8740213" y="3713373"/>
              <a:ext cx="3123990" cy="442481"/>
            </a:xfrm>
            <a:prstGeom prst="rect">
              <a:avLst/>
            </a:prstGeom>
            <a:noFill/>
          </p:spPr>
          <p:txBody>
            <a:bodyPr wrap="square" lIns="36538" tIns="36538" rIns="36538" bIns="36538" anchor="t">
              <a:spAutoFit/>
            </a:bodyPr>
            <a:lstStyle/>
            <a:p>
              <a:pPr defTabSz="456743" hangingPunct="1"/>
              <a:r>
                <a:rPr sz="1199" kern="1200" dirty="0">
                  <a:solidFill>
                    <a:srgbClr val="657794"/>
                  </a:solidFill>
                  <a:latin typeface="Aptos"/>
                </a:rPr>
                <a:t>Registration route validates the form before inserting a patient row.</a:t>
              </a:r>
            </a:p>
          </p:txBody>
        </p:sp>
      </p:grpSp>
      <p:grpSp>
        <p:nvGrpSpPr>
          <p:cNvPr id="24" name="Group 23">
            <a:extLst>
              <a:ext uri="{FF2B5EF4-FFF2-40B4-BE49-F238E27FC236}">
                <a16:creationId xmlns:a16="http://schemas.microsoft.com/office/drawing/2014/main" id="{26DA7F88-7ABA-A904-6C37-7CBFD8ACF324}"/>
              </a:ext>
            </a:extLst>
          </p:cNvPr>
          <p:cNvGrpSpPr/>
          <p:nvPr/>
        </p:nvGrpSpPr>
        <p:grpSpPr>
          <a:xfrm>
            <a:off x="6742791" y="1700155"/>
            <a:ext cx="6832587" cy="3256162"/>
            <a:chOff x="4521566" y="3337655"/>
            <a:chExt cx="6832587" cy="3256162"/>
          </a:xfrm>
        </p:grpSpPr>
        <p:sp>
          <p:nvSpPr>
            <p:cNvPr id="18" name="Rounded Rectangle 17"/>
            <p:cNvSpPr/>
            <p:nvPr/>
          </p:nvSpPr>
          <p:spPr>
            <a:xfrm>
              <a:off x="4521566" y="3337655"/>
              <a:ext cx="5350434" cy="3256162"/>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9" name="TextBox 18"/>
            <p:cNvSpPr txBox="1"/>
            <p:nvPr/>
          </p:nvSpPr>
          <p:spPr>
            <a:xfrm>
              <a:off x="4685986" y="3429000"/>
              <a:ext cx="6668167" cy="212017"/>
            </a:xfrm>
            <a:prstGeom prst="rect">
              <a:avLst/>
            </a:prstGeom>
            <a:noFill/>
          </p:spPr>
          <p:txBody>
            <a:bodyPr wrap="square" lIns="36538" tIns="36538" rIns="36538" bIns="36538" anchor="t">
              <a:spAutoFit/>
            </a:bodyPr>
            <a:lstStyle/>
            <a:p>
              <a:pPr defTabSz="456743" hangingPunct="1"/>
              <a:r>
                <a:rPr sz="899" b="1" kern="1200" dirty="0">
                  <a:solidFill>
                    <a:srgbClr val="27BEAE"/>
                  </a:solidFill>
                  <a:latin typeface="Aptos"/>
                </a:rPr>
                <a:t>IMPLEMENTATION PATTERN</a:t>
              </a:r>
            </a:p>
          </p:txBody>
        </p:sp>
        <p:sp>
          <p:nvSpPr>
            <p:cNvPr id="20" name="TextBox 19"/>
            <p:cNvSpPr txBox="1"/>
            <p:nvPr/>
          </p:nvSpPr>
          <p:spPr>
            <a:xfrm>
              <a:off x="4685986" y="3684766"/>
              <a:ext cx="4610414" cy="1077889"/>
            </a:xfrm>
            <a:prstGeom prst="rect">
              <a:avLst/>
            </a:prstGeom>
            <a:noFill/>
          </p:spPr>
          <p:txBody>
            <a:bodyPr wrap="square" lIns="0" tIns="0" rIns="0" bIns="0">
              <a:spAutoFit/>
            </a:bodyPr>
            <a:lstStyle/>
            <a:p>
              <a:pPr defTabSz="456743" hangingPunct="1">
                <a:spcAft>
                  <a:spcPts val="100"/>
                </a:spcAft>
                <a:defRPr sz="1100">
                  <a:solidFill>
                    <a:srgbClr val="C7DDF7"/>
                  </a:solidFill>
                  <a:latin typeface="Menlo"/>
                </a:defRPr>
              </a:pPr>
              <a:r>
                <a:rPr sz="1099" kern="1200" dirty="0">
                  <a:solidFill>
                    <a:srgbClr val="C7DDF7"/>
                  </a:solidFill>
                  <a:latin typeface="Menlo"/>
                </a:rPr>
                <a:t>if not name or not symptoms:</a:t>
              </a:r>
            </a:p>
            <a:p>
              <a:pPr defTabSz="456743" hangingPunct="1">
                <a:spcAft>
                  <a:spcPts val="100"/>
                </a:spcAft>
                <a:defRPr sz="1100">
                  <a:solidFill>
                    <a:srgbClr val="C7DDF7"/>
                  </a:solidFill>
                  <a:latin typeface="Menlo"/>
                </a:defRPr>
              </a:pPr>
              <a:r>
                <a:rPr sz="1099" kern="1200" dirty="0">
                  <a:solidFill>
                    <a:srgbClr val="C7DDF7"/>
                  </a:solidFill>
                  <a:latin typeface="Menlo"/>
                </a:rPr>
                <a:t>    flash("Required fields are missing")</a:t>
              </a:r>
            </a:p>
            <a:p>
              <a:pPr defTabSz="456743" hangingPunct="1">
                <a:spcAft>
                  <a:spcPts val="100"/>
                </a:spcAft>
                <a:defRPr sz="1100">
                  <a:solidFill>
                    <a:srgbClr val="C7DDF7"/>
                  </a:solidFill>
                  <a:latin typeface="Menlo"/>
                </a:defRPr>
              </a:pPr>
              <a:r>
                <a:rPr sz="1099" kern="1200" dirty="0">
                  <a:solidFill>
                    <a:srgbClr val="C7DDF7"/>
                  </a:solidFill>
                  <a:latin typeface="Menlo"/>
                </a:rPr>
                <a:t>    return redirect(</a:t>
              </a:r>
              <a:r>
                <a:rPr sz="1099" kern="1200" dirty="0" err="1">
                  <a:solidFill>
                    <a:srgbClr val="C7DDF7"/>
                  </a:solidFill>
                  <a:latin typeface="Menlo"/>
                </a:rPr>
                <a:t>url_for</a:t>
              </a:r>
              <a:r>
                <a:rPr sz="1099" kern="1200" dirty="0">
                  <a:solidFill>
                    <a:srgbClr val="C7DDF7"/>
                  </a:solidFill>
                  <a:latin typeface="Menlo"/>
                </a:rPr>
                <a:t>("index"))</a:t>
              </a:r>
            </a:p>
            <a:p>
              <a:pPr defTabSz="456743" hangingPunct="1">
                <a:spcAft>
                  <a:spcPts val="100"/>
                </a:spcAft>
                <a:defRPr sz="1100">
                  <a:solidFill>
                    <a:srgbClr val="C7DDF7"/>
                  </a:solidFill>
                  <a:latin typeface="Menlo"/>
                </a:defRPr>
              </a:pPr>
              <a:endParaRPr sz="1099" kern="1200" dirty="0">
                <a:solidFill>
                  <a:srgbClr val="C7DDF7"/>
                </a:solidFill>
                <a:latin typeface="Menlo"/>
              </a:endParaRPr>
            </a:p>
            <a:p>
              <a:pPr defTabSz="456743" hangingPunct="1">
                <a:spcAft>
                  <a:spcPts val="100"/>
                </a:spcAft>
                <a:defRPr sz="1100">
                  <a:solidFill>
                    <a:srgbClr val="C7DDF7"/>
                  </a:solidFill>
                  <a:latin typeface="Menlo"/>
                </a:defRPr>
              </a:pPr>
              <a:r>
                <a:rPr sz="1099" kern="1200" dirty="0">
                  <a:solidFill>
                    <a:srgbClr val="C7DDF7"/>
                  </a:solidFill>
                  <a:latin typeface="Menlo"/>
                </a:rPr>
                <a:t># Additional checks validate age, severity,</a:t>
              </a:r>
            </a:p>
            <a:p>
              <a:pPr defTabSz="456743" hangingPunct="1">
                <a:spcAft>
                  <a:spcPts val="100"/>
                </a:spcAft>
                <a:defRPr sz="1100">
                  <a:solidFill>
                    <a:srgbClr val="C7DDF7"/>
                  </a:solidFill>
                  <a:latin typeface="Menlo"/>
                </a:defRPr>
              </a:pPr>
              <a:r>
                <a:rPr sz="1099" kern="1200" dirty="0">
                  <a:solidFill>
                    <a:srgbClr val="C7DDF7"/>
                  </a:solidFill>
                  <a:latin typeface="Menlo"/>
                </a:rPr>
                <a:t># phone format, and duplicate active patients.</a:t>
              </a:r>
            </a:p>
          </p:txBody>
        </p:sp>
      </p:grpSp>
      <p:pic>
        <p:nvPicPr>
          <p:cNvPr id="28" name="Picture 27">
            <a:extLst>
              <a:ext uri="{FF2B5EF4-FFF2-40B4-BE49-F238E27FC236}">
                <a16:creationId xmlns:a16="http://schemas.microsoft.com/office/drawing/2014/main" id="{E0F0599A-C31F-5757-9467-DD2379A6C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773" y="1846336"/>
            <a:ext cx="5973732" cy="2941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930"/>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27BEAE"/>
                </a:solidFill>
                <a:latin typeface="Aptos"/>
              </a:rPr>
              <a:t>DIVIDE AND CONQUER</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F7F9FD"/>
                </a:solidFill>
                <a:latin typeface="Aptos"/>
              </a:rPr>
              <a:t>Merge Sort is now used for waiting-queue ordering</a:t>
            </a:r>
          </a:p>
        </p:txBody>
      </p:sp>
      <p:sp>
        <p:nvSpPr>
          <p:cNvPr id="5" name="Rectangle 4"/>
          <p:cNvSpPr/>
          <p:nvPr/>
        </p:nvSpPr>
        <p:spPr>
          <a:xfrm>
            <a:off x="529800" y="6507319"/>
            <a:ext cx="11098387" cy="16442"/>
          </a:xfrm>
          <a:prstGeom prst="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AEBED8"/>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AEBED8"/>
                </a:solidFill>
                <a:latin typeface="Aptos"/>
              </a:rPr>
              <a:t>06</a:t>
            </a:r>
          </a:p>
        </p:txBody>
      </p:sp>
      <p:sp>
        <p:nvSpPr>
          <p:cNvPr id="8" name="Rounded Rectangle 7"/>
          <p:cNvSpPr/>
          <p:nvPr/>
        </p:nvSpPr>
        <p:spPr>
          <a:xfrm>
            <a:off x="639413" y="1693450"/>
            <a:ext cx="5846064" cy="2420636"/>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TextBox 8"/>
          <p:cNvSpPr txBox="1"/>
          <p:nvPr/>
        </p:nvSpPr>
        <p:spPr>
          <a:xfrm>
            <a:off x="803833" y="1784794"/>
            <a:ext cx="5526357" cy="212017"/>
          </a:xfrm>
          <a:prstGeom prst="rect">
            <a:avLst/>
          </a:prstGeom>
          <a:noFill/>
        </p:spPr>
        <p:txBody>
          <a:bodyPr wrap="square" lIns="36538" tIns="36538" rIns="36538" bIns="36538" anchor="t">
            <a:spAutoFit/>
          </a:bodyPr>
          <a:lstStyle/>
          <a:p>
            <a:pPr defTabSz="456743" hangingPunct="1"/>
            <a:r>
              <a:rPr sz="899" b="1" kern="1200">
                <a:solidFill>
                  <a:srgbClr val="27BEAE"/>
                </a:solidFill>
                <a:latin typeface="Aptos"/>
              </a:rPr>
              <a:t>app.py — merge_sort()</a:t>
            </a:r>
          </a:p>
        </p:txBody>
      </p:sp>
      <p:sp>
        <p:nvSpPr>
          <p:cNvPr id="10" name="TextBox 9"/>
          <p:cNvSpPr txBox="1"/>
          <p:nvPr/>
        </p:nvSpPr>
        <p:spPr>
          <a:xfrm>
            <a:off x="803833" y="2040560"/>
            <a:ext cx="5517223" cy="2209327"/>
          </a:xfrm>
          <a:prstGeom prst="rect">
            <a:avLst/>
          </a:prstGeom>
          <a:noFill/>
        </p:spPr>
        <p:txBody>
          <a:bodyPr wrap="square" lIns="0" tIns="0" rIns="0" bIns="0">
            <a:spAutoFit/>
          </a:bodyPr>
          <a:lstStyle/>
          <a:p>
            <a:pPr defTabSz="456743" hangingPunct="1">
              <a:spcAft>
                <a:spcPts val="100"/>
              </a:spcAft>
              <a:defRPr sz="950">
                <a:solidFill>
                  <a:srgbClr val="C7DDF7"/>
                </a:solidFill>
                <a:latin typeface="Menlo"/>
              </a:defRPr>
            </a:pPr>
            <a:r>
              <a:rPr sz="949" kern="1200">
                <a:solidFill>
                  <a:srgbClr val="C7DDF7"/>
                </a:solidFill>
                <a:latin typeface="Menlo"/>
              </a:rPr>
              <a:t>def merge_sort(items, key):</a:t>
            </a:r>
          </a:p>
          <a:p>
            <a:pPr defTabSz="456743" hangingPunct="1">
              <a:spcAft>
                <a:spcPts val="100"/>
              </a:spcAft>
              <a:defRPr sz="950">
                <a:solidFill>
                  <a:srgbClr val="C7DDF7"/>
                </a:solidFill>
                <a:latin typeface="Menlo"/>
              </a:defRPr>
            </a:pPr>
            <a:r>
              <a:rPr sz="949" kern="1200">
                <a:solidFill>
                  <a:srgbClr val="C7DDF7"/>
                </a:solidFill>
                <a:latin typeface="Menlo"/>
              </a:rPr>
              <a:t>    if len(items) &lt;= 1: return items.copy()</a:t>
            </a:r>
          </a:p>
          <a:p>
            <a:pPr defTabSz="456743" hangingPunct="1">
              <a:spcAft>
                <a:spcPts val="100"/>
              </a:spcAft>
              <a:defRPr sz="950">
                <a:solidFill>
                  <a:srgbClr val="C7DDF7"/>
                </a:solidFill>
                <a:latin typeface="Menlo"/>
              </a:defRPr>
            </a:pPr>
            <a:r>
              <a:rPr sz="949" kern="1200">
                <a:solidFill>
                  <a:srgbClr val="C7DDF7"/>
                </a:solidFill>
                <a:latin typeface="Menlo"/>
              </a:rPr>
              <a:t>    mid = len(items) // 2</a:t>
            </a:r>
          </a:p>
          <a:p>
            <a:pPr defTabSz="456743" hangingPunct="1">
              <a:spcAft>
                <a:spcPts val="100"/>
              </a:spcAft>
              <a:defRPr sz="950">
                <a:solidFill>
                  <a:srgbClr val="C7DDF7"/>
                </a:solidFill>
                <a:latin typeface="Menlo"/>
              </a:defRPr>
            </a:pPr>
            <a:r>
              <a:rPr sz="949" kern="1200">
                <a:solidFill>
                  <a:srgbClr val="C7DDF7"/>
                </a:solidFill>
                <a:latin typeface="Menlo"/>
              </a:rPr>
              <a:t>    left = merge_sort(items[:mid], key)</a:t>
            </a:r>
          </a:p>
          <a:p>
            <a:pPr defTabSz="456743" hangingPunct="1">
              <a:spcAft>
                <a:spcPts val="100"/>
              </a:spcAft>
              <a:defRPr sz="950">
                <a:solidFill>
                  <a:srgbClr val="C7DDF7"/>
                </a:solidFill>
                <a:latin typeface="Menlo"/>
              </a:defRPr>
            </a:pPr>
            <a:r>
              <a:rPr sz="949" kern="1200">
                <a:solidFill>
                  <a:srgbClr val="C7DDF7"/>
                </a:solidFill>
                <a:latin typeface="Menlo"/>
              </a:rPr>
              <a:t>    right = merge_sort(items[mid:], key)</a:t>
            </a:r>
          </a:p>
          <a:p>
            <a:pPr defTabSz="456743" hangingPunct="1">
              <a:spcAft>
                <a:spcPts val="100"/>
              </a:spcAft>
              <a:defRPr sz="950">
                <a:solidFill>
                  <a:srgbClr val="C7DDF7"/>
                </a:solidFill>
                <a:latin typeface="Menlo"/>
              </a:defRPr>
            </a:pPr>
            <a:r>
              <a:rPr sz="949" kern="1200">
                <a:solidFill>
                  <a:srgbClr val="C7DDF7"/>
                </a:solidFill>
                <a:latin typeface="Menlo"/>
              </a:rPr>
              <a:t>    merged, i, j = [], 0, 0</a:t>
            </a:r>
          </a:p>
          <a:p>
            <a:pPr defTabSz="456743" hangingPunct="1">
              <a:spcAft>
                <a:spcPts val="100"/>
              </a:spcAft>
              <a:defRPr sz="950">
                <a:solidFill>
                  <a:srgbClr val="C7DDF7"/>
                </a:solidFill>
                <a:latin typeface="Menlo"/>
              </a:defRPr>
            </a:pPr>
            <a:r>
              <a:rPr sz="949" kern="1200">
                <a:solidFill>
                  <a:srgbClr val="C7DDF7"/>
                </a:solidFill>
                <a:latin typeface="Menlo"/>
              </a:rPr>
              <a:t>    while i &lt; len(left) and j &lt; len(right):</a:t>
            </a:r>
          </a:p>
          <a:p>
            <a:pPr defTabSz="456743" hangingPunct="1">
              <a:spcAft>
                <a:spcPts val="100"/>
              </a:spcAft>
              <a:defRPr sz="950">
                <a:solidFill>
                  <a:srgbClr val="C7DDF7"/>
                </a:solidFill>
                <a:latin typeface="Menlo"/>
              </a:defRPr>
            </a:pPr>
            <a:r>
              <a:rPr sz="949" kern="1200">
                <a:solidFill>
                  <a:srgbClr val="C7DDF7"/>
                </a:solidFill>
                <a:latin typeface="Menlo"/>
              </a:rPr>
              <a:t>        if key(left[i]) &lt;= key(right[j]):</a:t>
            </a:r>
          </a:p>
          <a:p>
            <a:pPr defTabSz="456743" hangingPunct="1">
              <a:spcAft>
                <a:spcPts val="100"/>
              </a:spcAft>
              <a:defRPr sz="950">
                <a:solidFill>
                  <a:srgbClr val="C7DDF7"/>
                </a:solidFill>
                <a:latin typeface="Menlo"/>
              </a:defRPr>
            </a:pPr>
            <a:r>
              <a:rPr sz="949" kern="1200">
                <a:solidFill>
                  <a:srgbClr val="C7DDF7"/>
                </a:solidFill>
                <a:latin typeface="Menlo"/>
              </a:rPr>
              <a:t>            merged.append(left[i]); i += 1</a:t>
            </a:r>
          </a:p>
          <a:p>
            <a:pPr defTabSz="456743" hangingPunct="1">
              <a:spcAft>
                <a:spcPts val="100"/>
              </a:spcAft>
              <a:defRPr sz="950">
                <a:solidFill>
                  <a:srgbClr val="C7DDF7"/>
                </a:solidFill>
                <a:latin typeface="Menlo"/>
              </a:defRPr>
            </a:pPr>
            <a:r>
              <a:rPr sz="949" kern="1200">
                <a:solidFill>
                  <a:srgbClr val="C7DDF7"/>
                </a:solidFill>
                <a:latin typeface="Menlo"/>
              </a:rPr>
              <a:t>        else:</a:t>
            </a:r>
          </a:p>
          <a:p>
            <a:pPr defTabSz="456743" hangingPunct="1">
              <a:spcAft>
                <a:spcPts val="100"/>
              </a:spcAft>
              <a:defRPr sz="950">
                <a:solidFill>
                  <a:srgbClr val="C7DDF7"/>
                </a:solidFill>
                <a:latin typeface="Menlo"/>
              </a:defRPr>
            </a:pPr>
            <a:r>
              <a:rPr sz="949" kern="1200">
                <a:solidFill>
                  <a:srgbClr val="C7DDF7"/>
                </a:solidFill>
                <a:latin typeface="Menlo"/>
              </a:rPr>
              <a:t>            merged.append(right[j]); j += 1</a:t>
            </a:r>
          </a:p>
          <a:p>
            <a:pPr defTabSz="456743" hangingPunct="1">
              <a:spcAft>
                <a:spcPts val="100"/>
              </a:spcAft>
              <a:defRPr sz="950">
                <a:solidFill>
                  <a:srgbClr val="C7DDF7"/>
                </a:solidFill>
                <a:latin typeface="Menlo"/>
              </a:defRPr>
            </a:pPr>
            <a:r>
              <a:rPr sz="949" kern="1200">
                <a:solidFill>
                  <a:srgbClr val="C7DDF7"/>
                </a:solidFill>
                <a:latin typeface="Menlo"/>
              </a:rPr>
              <a:t>    merged.extend(left[i:])</a:t>
            </a:r>
          </a:p>
          <a:p>
            <a:pPr defTabSz="456743" hangingPunct="1">
              <a:spcAft>
                <a:spcPts val="100"/>
              </a:spcAft>
              <a:defRPr sz="950">
                <a:solidFill>
                  <a:srgbClr val="C7DDF7"/>
                </a:solidFill>
                <a:latin typeface="Menlo"/>
              </a:defRPr>
            </a:pPr>
            <a:r>
              <a:rPr sz="949" kern="1200">
                <a:solidFill>
                  <a:srgbClr val="C7DDF7"/>
                </a:solidFill>
                <a:latin typeface="Menlo"/>
              </a:rPr>
              <a:t>    merged.extend(right[j:])</a:t>
            </a:r>
          </a:p>
          <a:p>
            <a:pPr defTabSz="456743" hangingPunct="1">
              <a:spcAft>
                <a:spcPts val="100"/>
              </a:spcAft>
              <a:defRPr sz="950">
                <a:solidFill>
                  <a:srgbClr val="C7DDF7"/>
                </a:solidFill>
                <a:latin typeface="Menlo"/>
              </a:defRPr>
            </a:pPr>
            <a:r>
              <a:rPr sz="949" kern="1200">
                <a:solidFill>
                  <a:srgbClr val="C7DDF7"/>
                </a:solidFill>
                <a:latin typeface="Menlo"/>
              </a:rPr>
              <a:t>    return merged</a:t>
            </a:r>
          </a:p>
        </p:txBody>
      </p:sp>
      <p:sp>
        <p:nvSpPr>
          <p:cNvPr id="11" name="Rounded Rectangle 10"/>
          <p:cNvSpPr/>
          <p:nvPr/>
        </p:nvSpPr>
        <p:spPr>
          <a:xfrm>
            <a:off x="6896528" y="1784795"/>
            <a:ext cx="4567238" cy="2237946"/>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2" name="TextBox 11"/>
          <p:cNvSpPr txBox="1"/>
          <p:nvPr/>
        </p:nvSpPr>
        <p:spPr>
          <a:xfrm>
            <a:off x="7170563" y="1994887"/>
            <a:ext cx="913448" cy="228362"/>
          </a:xfrm>
          <a:prstGeom prst="rect">
            <a:avLst/>
          </a:prstGeom>
          <a:noFill/>
        </p:spPr>
        <p:txBody>
          <a:bodyPr wrap="square" lIns="36538" tIns="36538" rIns="36538" bIns="36538" anchor="t">
            <a:spAutoFit/>
          </a:bodyPr>
          <a:lstStyle/>
          <a:p>
            <a:pPr defTabSz="456743" hangingPunct="1"/>
            <a:r>
              <a:rPr sz="999" b="1" kern="1200">
                <a:solidFill>
                  <a:srgbClr val="27BEAE"/>
                </a:solidFill>
                <a:latin typeface="Aptos"/>
              </a:rPr>
              <a:t>INPUT</a:t>
            </a:r>
          </a:p>
        </p:txBody>
      </p:sp>
      <p:sp>
        <p:nvSpPr>
          <p:cNvPr id="13" name="TextBox 12"/>
          <p:cNvSpPr txBox="1"/>
          <p:nvPr/>
        </p:nvSpPr>
        <p:spPr>
          <a:xfrm>
            <a:off x="7170563" y="2287191"/>
            <a:ext cx="3882152" cy="288881"/>
          </a:xfrm>
          <a:prstGeom prst="rect">
            <a:avLst/>
          </a:prstGeom>
          <a:noFill/>
        </p:spPr>
        <p:txBody>
          <a:bodyPr wrap="square" lIns="36538" tIns="36538" rIns="36538" bIns="36538" anchor="t">
            <a:spAutoFit/>
          </a:bodyPr>
          <a:lstStyle/>
          <a:p>
            <a:pPr defTabSz="456743" hangingPunct="1"/>
            <a:r>
              <a:rPr sz="1399" b="1" kern="1200" dirty="0">
                <a:solidFill>
                  <a:srgbClr val="F7F9FD"/>
                </a:solidFill>
                <a:latin typeface="Aptos"/>
              </a:rPr>
              <a:t>Normal • Critical • Urgent </a:t>
            </a:r>
          </a:p>
        </p:txBody>
      </p:sp>
      <p:sp>
        <p:nvSpPr>
          <p:cNvPr id="14" name="TextBox 13"/>
          <p:cNvSpPr txBox="1"/>
          <p:nvPr/>
        </p:nvSpPr>
        <p:spPr>
          <a:xfrm>
            <a:off x="7170563" y="2725646"/>
            <a:ext cx="2740343" cy="242762"/>
          </a:xfrm>
          <a:prstGeom prst="rect">
            <a:avLst/>
          </a:prstGeom>
          <a:noFill/>
        </p:spPr>
        <p:txBody>
          <a:bodyPr wrap="square" lIns="36538" tIns="36538" rIns="36538" bIns="36538" anchor="t">
            <a:spAutoFit/>
          </a:bodyPr>
          <a:lstStyle/>
          <a:p>
            <a:pPr defTabSz="456743" hangingPunct="1"/>
            <a:r>
              <a:rPr sz="1099" kern="1200">
                <a:solidFill>
                  <a:srgbClr val="B8C8E0"/>
                </a:solidFill>
                <a:latin typeface="Aptos"/>
              </a:rPr>
              <a:t>↓ divide into halves</a:t>
            </a:r>
          </a:p>
        </p:txBody>
      </p:sp>
      <p:sp>
        <p:nvSpPr>
          <p:cNvPr id="15" name="TextBox 14"/>
          <p:cNvSpPr txBox="1"/>
          <p:nvPr/>
        </p:nvSpPr>
        <p:spPr>
          <a:xfrm>
            <a:off x="7170563" y="3027084"/>
            <a:ext cx="3471101" cy="242762"/>
          </a:xfrm>
          <a:prstGeom prst="rect">
            <a:avLst/>
          </a:prstGeom>
          <a:noFill/>
        </p:spPr>
        <p:txBody>
          <a:bodyPr wrap="square" lIns="36538" tIns="36538" rIns="36538" bIns="36538" anchor="t">
            <a:spAutoFit/>
          </a:bodyPr>
          <a:lstStyle/>
          <a:p>
            <a:pPr defTabSz="456743" hangingPunct="1"/>
            <a:r>
              <a:rPr sz="1099" kern="1200">
                <a:solidFill>
                  <a:srgbClr val="B8C8E0"/>
                </a:solidFill>
                <a:latin typeface="Aptos"/>
              </a:rPr>
              <a:t>↓ sort each half recursively</a:t>
            </a:r>
          </a:p>
        </p:txBody>
      </p:sp>
      <p:sp>
        <p:nvSpPr>
          <p:cNvPr id="16" name="TextBox 15"/>
          <p:cNvSpPr txBox="1"/>
          <p:nvPr/>
        </p:nvSpPr>
        <p:spPr>
          <a:xfrm>
            <a:off x="7170563" y="3328521"/>
            <a:ext cx="3197066" cy="242762"/>
          </a:xfrm>
          <a:prstGeom prst="rect">
            <a:avLst/>
          </a:prstGeom>
          <a:noFill/>
        </p:spPr>
        <p:txBody>
          <a:bodyPr wrap="square" lIns="36538" tIns="36538" rIns="36538" bIns="36538" anchor="t">
            <a:spAutoFit/>
          </a:bodyPr>
          <a:lstStyle/>
          <a:p>
            <a:pPr defTabSz="456743" hangingPunct="1"/>
            <a:r>
              <a:rPr sz="1099" b="1" kern="1200">
                <a:solidFill>
                  <a:srgbClr val="27BEAE"/>
                </a:solidFill>
                <a:latin typeface="Aptos"/>
              </a:rPr>
              <a:t>↓ merge in priority order</a:t>
            </a:r>
          </a:p>
        </p:txBody>
      </p:sp>
      <p:sp>
        <p:nvSpPr>
          <p:cNvPr id="17" name="Rounded Rectangle 16"/>
          <p:cNvSpPr/>
          <p:nvPr/>
        </p:nvSpPr>
        <p:spPr>
          <a:xfrm>
            <a:off x="639413" y="4433792"/>
            <a:ext cx="3425428" cy="114180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8" name="Rectangle 17"/>
          <p:cNvSpPr/>
          <p:nvPr/>
        </p:nvSpPr>
        <p:spPr>
          <a:xfrm>
            <a:off x="639413" y="4433792"/>
            <a:ext cx="63941" cy="1141809"/>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9" name="TextBox 18"/>
          <p:cNvSpPr txBox="1"/>
          <p:nvPr/>
        </p:nvSpPr>
        <p:spPr>
          <a:xfrm>
            <a:off x="822102" y="4579944"/>
            <a:ext cx="3096587"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Ordering key</a:t>
            </a:r>
          </a:p>
        </p:txBody>
      </p:sp>
      <p:sp>
        <p:nvSpPr>
          <p:cNvPr id="20" name="TextBox 19"/>
          <p:cNvSpPr txBox="1"/>
          <p:nvPr/>
        </p:nvSpPr>
        <p:spPr>
          <a:xfrm>
            <a:off x="822102" y="4954457"/>
            <a:ext cx="3078318" cy="258135"/>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(severity, created_at, id)</a:t>
            </a:r>
          </a:p>
        </p:txBody>
      </p:sp>
      <p:sp>
        <p:nvSpPr>
          <p:cNvPr id="21" name="Rounded Rectangle 20"/>
          <p:cNvSpPr/>
          <p:nvPr/>
        </p:nvSpPr>
        <p:spPr>
          <a:xfrm>
            <a:off x="4366279" y="4433792"/>
            <a:ext cx="3425428" cy="114180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2" name="Rectangle 21"/>
          <p:cNvSpPr/>
          <p:nvPr/>
        </p:nvSpPr>
        <p:spPr>
          <a:xfrm>
            <a:off x="4366279" y="4433792"/>
            <a:ext cx="63941" cy="1141809"/>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3" name="TextBox 22"/>
          <p:cNvSpPr txBox="1"/>
          <p:nvPr/>
        </p:nvSpPr>
        <p:spPr>
          <a:xfrm>
            <a:off x="4548969" y="4579944"/>
            <a:ext cx="3096587"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Time complexity</a:t>
            </a:r>
          </a:p>
        </p:txBody>
      </p:sp>
      <p:sp>
        <p:nvSpPr>
          <p:cNvPr id="24" name="TextBox 23"/>
          <p:cNvSpPr txBox="1"/>
          <p:nvPr/>
        </p:nvSpPr>
        <p:spPr>
          <a:xfrm>
            <a:off x="4548969" y="4954457"/>
            <a:ext cx="3078318" cy="258135"/>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O(n log n) best/average/worst for Merge Sort.</a:t>
            </a:r>
          </a:p>
        </p:txBody>
      </p:sp>
      <p:sp>
        <p:nvSpPr>
          <p:cNvPr id="25" name="Rounded Rectangle 24"/>
          <p:cNvSpPr/>
          <p:nvPr/>
        </p:nvSpPr>
        <p:spPr>
          <a:xfrm>
            <a:off x="8093144" y="4433792"/>
            <a:ext cx="3425428" cy="114180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6" name="Rectangle 25"/>
          <p:cNvSpPr/>
          <p:nvPr/>
        </p:nvSpPr>
        <p:spPr>
          <a:xfrm>
            <a:off x="8093144" y="4433792"/>
            <a:ext cx="63941" cy="1141809"/>
          </a:xfrm>
          <a:prstGeom prst="rect">
            <a:avLst/>
          </a:prstGeom>
          <a:solidFill>
            <a:srgbClr val="EB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7" name="TextBox 26"/>
          <p:cNvSpPr txBox="1"/>
          <p:nvPr/>
        </p:nvSpPr>
        <p:spPr>
          <a:xfrm>
            <a:off x="8275833" y="4579944"/>
            <a:ext cx="3096587"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Space complexity</a:t>
            </a:r>
          </a:p>
        </p:txBody>
      </p:sp>
      <p:sp>
        <p:nvSpPr>
          <p:cNvPr id="28" name="TextBox 27"/>
          <p:cNvSpPr txBox="1"/>
          <p:nvPr/>
        </p:nvSpPr>
        <p:spPr>
          <a:xfrm>
            <a:off x="8275833" y="4954457"/>
            <a:ext cx="3078318"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O(n) auxiliary storage; stable ordering for equal keys.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GREEDY STRATEGY</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Start treatment: choose the best next available match</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The system makes a local choice from current state; it does not search all possible schedules.</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657794"/>
                </a:solidFill>
                <a:latin typeface="Aptos"/>
              </a:rPr>
              <a:t>07</a:t>
            </a:r>
          </a:p>
        </p:txBody>
      </p:sp>
      <p:sp>
        <p:nvSpPr>
          <p:cNvPr id="8" name="Rounded Rectangle 7"/>
          <p:cNvSpPr/>
          <p:nvPr/>
        </p:nvSpPr>
        <p:spPr>
          <a:xfrm>
            <a:off x="776430" y="1574701"/>
            <a:ext cx="511531" cy="511531"/>
          </a:xfrm>
          <a:prstGeom prst="roundRect">
            <a:avLst>
              <a:gd name="adj" fmla="val 12000"/>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TextBox 8"/>
          <p:cNvSpPr txBox="1"/>
          <p:nvPr/>
        </p:nvSpPr>
        <p:spPr>
          <a:xfrm>
            <a:off x="776430" y="1655504"/>
            <a:ext cx="511531" cy="304254"/>
          </a:xfrm>
          <a:prstGeom prst="rect">
            <a:avLst/>
          </a:prstGeom>
          <a:noFill/>
        </p:spPr>
        <p:txBody>
          <a:bodyPr wrap="square" lIns="36538" tIns="36538" rIns="36538" bIns="36538" anchor="ctr">
            <a:spAutoFit/>
          </a:bodyPr>
          <a:lstStyle/>
          <a:p>
            <a:pPr algn="ctr" defTabSz="456743" hangingPunct="1"/>
            <a:r>
              <a:rPr sz="1499" b="1" kern="1200">
                <a:solidFill>
                  <a:srgbClr val="F7F9FD"/>
                </a:solidFill>
                <a:latin typeface="Aptos"/>
              </a:rPr>
              <a:t>1</a:t>
            </a:r>
          </a:p>
        </p:txBody>
      </p:sp>
      <p:sp>
        <p:nvSpPr>
          <p:cNvPr id="10" name="TextBox 9"/>
          <p:cNvSpPr txBox="1"/>
          <p:nvPr/>
        </p:nvSpPr>
        <p:spPr>
          <a:xfrm>
            <a:off x="1507188" y="1592970"/>
            <a:ext cx="2192274" cy="319435"/>
          </a:xfrm>
          <a:prstGeom prst="rect">
            <a:avLst/>
          </a:prstGeom>
          <a:noFill/>
        </p:spPr>
        <p:txBody>
          <a:bodyPr wrap="square" lIns="36538" tIns="36538" rIns="36538" bIns="36538" anchor="t">
            <a:spAutoFit/>
          </a:bodyPr>
          <a:lstStyle/>
          <a:p>
            <a:pPr defTabSz="456743" hangingPunct="1"/>
            <a:r>
              <a:rPr sz="1598" b="1" kern="1200">
                <a:solidFill>
                  <a:srgbClr val="19273F"/>
                </a:solidFill>
                <a:latin typeface="Aptos"/>
              </a:rPr>
              <a:t>Pick next patient</a:t>
            </a:r>
          </a:p>
        </p:txBody>
      </p:sp>
      <p:sp>
        <p:nvSpPr>
          <p:cNvPr id="11" name="TextBox 10"/>
          <p:cNvSpPr txBox="1"/>
          <p:nvPr/>
        </p:nvSpPr>
        <p:spPr>
          <a:xfrm>
            <a:off x="3745134" y="1592971"/>
            <a:ext cx="7124891" cy="273508"/>
          </a:xfrm>
          <a:prstGeom prst="rect">
            <a:avLst/>
          </a:prstGeom>
          <a:noFill/>
        </p:spPr>
        <p:txBody>
          <a:bodyPr wrap="square" lIns="36538" tIns="36538" rIns="36538" bIns="36538" anchor="t">
            <a:spAutoFit/>
          </a:bodyPr>
          <a:lstStyle/>
          <a:p>
            <a:pPr defTabSz="456743" hangingPunct="1"/>
            <a:r>
              <a:rPr sz="1299" kern="1200">
                <a:solidFill>
                  <a:srgbClr val="657794"/>
                </a:solidFill>
                <a:latin typeface="Aptos"/>
              </a:rPr>
              <a:t>Lowest severity number, then earliest arrival</a:t>
            </a:r>
          </a:p>
        </p:txBody>
      </p:sp>
      <p:sp>
        <p:nvSpPr>
          <p:cNvPr id="12" name="Rectangle 11"/>
          <p:cNvSpPr/>
          <p:nvPr/>
        </p:nvSpPr>
        <p:spPr>
          <a:xfrm>
            <a:off x="1018494" y="2104501"/>
            <a:ext cx="22836" cy="438455"/>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Rounded Rectangle 12"/>
          <p:cNvSpPr/>
          <p:nvPr/>
        </p:nvSpPr>
        <p:spPr>
          <a:xfrm>
            <a:off x="776430" y="2597763"/>
            <a:ext cx="511531" cy="511531"/>
          </a:xfrm>
          <a:prstGeom prst="roundRect">
            <a:avLst>
              <a:gd name="adj" fmla="val 12000"/>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776430" y="2678565"/>
            <a:ext cx="511531" cy="304254"/>
          </a:xfrm>
          <a:prstGeom prst="rect">
            <a:avLst/>
          </a:prstGeom>
          <a:noFill/>
        </p:spPr>
        <p:txBody>
          <a:bodyPr wrap="square" lIns="36538" tIns="36538" rIns="36538" bIns="36538" anchor="ctr">
            <a:spAutoFit/>
          </a:bodyPr>
          <a:lstStyle/>
          <a:p>
            <a:pPr algn="ctr" defTabSz="456743" hangingPunct="1"/>
            <a:r>
              <a:rPr sz="1499" b="1" kern="1200">
                <a:solidFill>
                  <a:srgbClr val="F7F9FD"/>
                </a:solidFill>
                <a:latin typeface="Aptos"/>
              </a:rPr>
              <a:t>2</a:t>
            </a:r>
          </a:p>
        </p:txBody>
      </p:sp>
      <p:sp>
        <p:nvSpPr>
          <p:cNvPr id="15" name="TextBox 14"/>
          <p:cNvSpPr txBox="1"/>
          <p:nvPr/>
        </p:nvSpPr>
        <p:spPr>
          <a:xfrm>
            <a:off x="1507188" y="2616032"/>
            <a:ext cx="2192274" cy="319435"/>
          </a:xfrm>
          <a:prstGeom prst="rect">
            <a:avLst/>
          </a:prstGeom>
          <a:noFill/>
        </p:spPr>
        <p:txBody>
          <a:bodyPr wrap="square" lIns="36538" tIns="36538" rIns="36538" bIns="36538" anchor="t">
            <a:spAutoFit/>
          </a:bodyPr>
          <a:lstStyle/>
          <a:p>
            <a:pPr defTabSz="456743" hangingPunct="1"/>
            <a:r>
              <a:rPr sz="1598" b="1" kern="1200">
                <a:solidFill>
                  <a:srgbClr val="19273F"/>
                </a:solidFill>
                <a:latin typeface="Aptos"/>
              </a:rPr>
              <a:t>Suggest specialty</a:t>
            </a:r>
          </a:p>
        </p:txBody>
      </p:sp>
      <p:sp>
        <p:nvSpPr>
          <p:cNvPr id="16" name="TextBox 15"/>
          <p:cNvSpPr txBox="1"/>
          <p:nvPr/>
        </p:nvSpPr>
        <p:spPr>
          <a:xfrm>
            <a:off x="3745134" y="2616032"/>
            <a:ext cx="7124891" cy="273508"/>
          </a:xfrm>
          <a:prstGeom prst="rect">
            <a:avLst/>
          </a:prstGeom>
          <a:noFill/>
        </p:spPr>
        <p:txBody>
          <a:bodyPr wrap="square" lIns="36538" tIns="36538" rIns="36538" bIns="36538" anchor="t">
            <a:spAutoFit/>
          </a:bodyPr>
          <a:lstStyle/>
          <a:p>
            <a:pPr defTabSz="456743" hangingPunct="1"/>
            <a:r>
              <a:rPr sz="1299" kern="1200">
                <a:solidFill>
                  <a:srgbClr val="657794"/>
                </a:solidFill>
                <a:latin typeface="Aptos"/>
              </a:rPr>
              <a:t>Keyword rules select a matching doctor specialty</a:t>
            </a:r>
          </a:p>
        </p:txBody>
      </p:sp>
      <p:sp>
        <p:nvSpPr>
          <p:cNvPr id="17" name="Rectangle 16"/>
          <p:cNvSpPr/>
          <p:nvPr/>
        </p:nvSpPr>
        <p:spPr>
          <a:xfrm>
            <a:off x="1018494" y="3127562"/>
            <a:ext cx="22836" cy="438455"/>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8" name="Rounded Rectangle 17"/>
          <p:cNvSpPr/>
          <p:nvPr/>
        </p:nvSpPr>
        <p:spPr>
          <a:xfrm>
            <a:off x="776430" y="3620824"/>
            <a:ext cx="511531" cy="511531"/>
          </a:xfrm>
          <a:prstGeom prst="roundRect">
            <a:avLst>
              <a:gd name="adj" fmla="val 12000"/>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9" name="TextBox 18"/>
          <p:cNvSpPr txBox="1"/>
          <p:nvPr/>
        </p:nvSpPr>
        <p:spPr>
          <a:xfrm>
            <a:off x="776430" y="3701626"/>
            <a:ext cx="511531" cy="304254"/>
          </a:xfrm>
          <a:prstGeom prst="rect">
            <a:avLst/>
          </a:prstGeom>
          <a:noFill/>
        </p:spPr>
        <p:txBody>
          <a:bodyPr wrap="square" lIns="36538" tIns="36538" rIns="36538" bIns="36538" anchor="ctr">
            <a:spAutoFit/>
          </a:bodyPr>
          <a:lstStyle/>
          <a:p>
            <a:pPr algn="ctr" defTabSz="456743" hangingPunct="1"/>
            <a:r>
              <a:rPr sz="1499" b="1" kern="1200">
                <a:solidFill>
                  <a:srgbClr val="F7F9FD"/>
                </a:solidFill>
                <a:latin typeface="Aptos"/>
              </a:rPr>
              <a:t>3</a:t>
            </a:r>
          </a:p>
        </p:txBody>
      </p:sp>
      <p:sp>
        <p:nvSpPr>
          <p:cNvPr id="20" name="TextBox 19"/>
          <p:cNvSpPr txBox="1"/>
          <p:nvPr/>
        </p:nvSpPr>
        <p:spPr>
          <a:xfrm>
            <a:off x="1507188" y="3639093"/>
            <a:ext cx="2192274" cy="319435"/>
          </a:xfrm>
          <a:prstGeom prst="rect">
            <a:avLst/>
          </a:prstGeom>
          <a:noFill/>
        </p:spPr>
        <p:txBody>
          <a:bodyPr wrap="square" lIns="36538" tIns="36538" rIns="36538" bIns="36538" anchor="t">
            <a:spAutoFit/>
          </a:bodyPr>
          <a:lstStyle/>
          <a:p>
            <a:pPr defTabSz="456743" hangingPunct="1"/>
            <a:r>
              <a:rPr sz="1598" b="1" kern="1200">
                <a:solidFill>
                  <a:srgbClr val="19273F"/>
                </a:solidFill>
                <a:latin typeface="Aptos"/>
              </a:rPr>
              <a:t>Choose resources</a:t>
            </a:r>
          </a:p>
        </p:txBody>
      </p:sp>
      <p:sp>
        <p:nvSpPr>
          <p:cNvPr id="21" name="TextBox 20"/>
          <p:cNvSpPr txBox="1"/>
          <p:nvPr/>
        </p:nvSpPr>
        <p:spPr>
          <a:xfrm>
            <a:off x="3745134" y="3639093"/>
            <a:ext cx="7124891" cy="273508"/>
          </a:xfrm>
          <a:prstGeom prst="rect">
            <a:avLst/>
          </a:prstGeom>
          <a:noFill/>
        </p:spPr>
        <p:txBody>
          <a:bodyPr wrap="square" lIns="36538" tIns="36538" rIns="36538" bIns="36538" anchor="t">
            <a:spAutoFit/>
          </a:bodyPr>
          <a:lstStyle/>
          <a:p>
            <a:pPr defTabSz="456743" hangingPunct="1"/>
            <a:r>
              <a:rPr sz="1299" kern="1200">
                <a:solidFill>
                  <a:srgbClr val="657794"/>
                </a:solidFill>
                <a:latin typeface="Aptos"/>
              </a:rPr>
              <a:t>First suitable available doctor + available bed</a:t>
            </a:r>
          </a:p>
        </p:txBody>
      </p:sp>
      <p:sp>
        <p:nvSpPr>
          <p:cNvPr id="22" name="Rectangle 21"/>
          <p:cNvSpPr/>
          <p:nvPr/>
        </p:nvSpPr>
        <p:spPr>
          <a:xfrm>
            <a:off x="1018494" y="4150623"/>
            <a:ext cx="22836" cy="438455"/>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3" name="Rounded Rectangle 22"/>
          <p:cNvSpPr/>
          <p:nvPr/>
        </p:nvSpPr>
        <p:spPr>
          <a:xfrm>
            <a:off x="776430" y="4643885"/>
            <a:ext cx="511531" cy="511531"/>
          </a:xfrm>
          <a:prstGeom prst="roundRect">
            <a:avLst>
              <a:gd name="adj" fmla="val 12000"/>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4" name="TextBox 23"/>
          <p:cNvSpPr txBox="1"/>
          <p:nvPr/>
        </p:nvSpPr>
        <p:spPr>
          <a:xfrm>
            <a:off x="776430" y="4724687"/>
            <a:ext cx="511531" cy="304254"/>
          </a:xfrm>
          <a:prstGeom prst="rect">
            <a:avLst/>
          </a:prstGeom>
          <a:noFill/>
        </p:spPr>
        <p:txBody>
          <a:bodyPr wrap="square" lIns="36538" tIns="36538" rIns="36538" bIns="36538" anchor="ctr">
            <a:spAutoFit/>
          </a:bodyPr>
          <a:lstStyle/>
          <a:p>
            <a:pPr algn="ctr" defTabSz="456743" hangingPunct="1"/>
            <a:r>
              <a:rPr sz="1499" b="1" kern="1200">
                <a:solidFill>
                  <a:srgbClr val="F7F9FD"/>
                </a:solidFill>
                <a:latin typeface="Aptos"/>
              </a:rPr>
              <a:t>4</a:t>
            </a:r>
          </a:p>
        </p:txBody>
      </p:sp>
      <p:sp>
        <p:nvSpPr>
          <p:cNvPr id="25" name="TextBox 24"/>
          <p:cNvSpPr txBox="1"/>
          <p:nvPr/>
        </p:nvSpPr>
        <p:spPr>
          <a:xfrm>
            <a:off x="1507188" y="4662154"/>
            <a:ext cx="2192274" cy="319435"/>
          </a:xfrm>
          <a:prstGeom prst="rect">
            <a:avLst/>
          </a:prstGeom>
          <a:noFill/>
        </p:spPr>
        <p:txBody>
          <a:bodyPr wrap="square" lIns="36538" tIns="36538" rIns="36538" bIns="36538" anchor="t">
            <a:spAutoFit/>
          </a:bodyPr>
          <a:lstStyle/>
          <a:p>
            <a:pPr defTabSz="456743" hangingPunct="1"/>
            <a:r>
              <a:rPr sz="1598" b="1" kern="1200">
                <a:solidFill>
                  <a:srgbClr val="19273F"/>
                </a:solidFill>
                <a:latin typeface="Aptos"/>
              </a:rPr>
              <a:t>Commit changes</a:t>
            </a:r>
          </a:p>
        </p:txBody>
      </p:sp>
      <p:sp>
        <p:nvSpPr>
          <p:cNvPr id="26" name="TextBox 25"/>
          <p:cNvSpPr txBox="1"/>
          <p:nvPr/>
        </p:nvSpPr>
        <p:spPr>
          <a:xfrm>
            <a:off x="3745134" y="4662155"/>
            <a:ext cx="7124891" cy="273508"/>
          </a:xfrm>
          <a:prstGeom prst="rect">
            <a:avLst/>
          </a:prstGeom>
          <a:noFill/>
        </p:spPr>
        <p:txBody>
          <a:bodyPr wrap="square" lIns="36538" tIns="36538" rIns="36538" bIns="36538" anchor="t">
            <a:spAutoFit/>
          </a:bodyPr>
          <a:lstStyle/>
          <a:p>
            <a:pPr defTabSz="456743" hangingPunct="1"/>
            <a:r>
              <a:rPr sz="1299" kern="1200">
                <a:solidFill>
                  <a:srgbClr val="657794"/>
                </a:solidFill>
                <a:latin typeface="Aptos"/>
              </a:rPr>
              <a:t>Set patient in treatment and reserve resources</a:t>
            </a:r>
          </a:p>
        </p:txBody>
      </p:sp>
      <p:sp>
        <p:nvSpPr>
          <p:cNvPr id="27" name="Rounded Rectangle 26"/>
          <p:cNvSpPr/>
          <p:nvPr/>
        </p:nvSpPr>
        <p:spPr>
          <a:xfrm>
            <a:off x="776430" y="5666946"/>
            <a:ext cx="10550319" cy="438455"/>
          </a:xfrm>
          <a:prstGeom prst="roundRect">
            <a:avLst>
              <a:gd name="adj" fmla="val 12000"/>
            </a:avLst>
          </a:prstGeom>
          <a:solidFill>
            <a:srgbClr val="EF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8" name="TextBox 27"/>
          <p:cNvSpPr txBox="1"/>
          <p:nvPr/>
        </p:nvSpPr>
        <p:spPr>
          <a:xfrm>
            <a:off x="959120" y="5767426"/>
            <a:ext cx="10139267" cy="242762"/>
          </a:xfrm>
          <a:prstGeom prst="rect">
            <a:avLst/>
          </a:prstGeom>
          <a:noFill/>
        </p:spPr>
        <p:txBody>
          <a:bodyPr wrap="square" lIns="36538" tIns="36538" rIns="36538" bIns="36538" anchor="t">
            <a:spAutoFit/>
          </a:bodyPr>
          <a:lstStyle/>
          <a:p>
            <a:pPr defTabSz="456743" hangingPunct="1"/>
            <a:r>
              <a:rPr sz="1099" b="1" kern="1200">
                <a:solidFill>
                  <a:srgbClr val="D23D4E"/>
                </a:solidFill>
                <a:latin typeface="Aptos"/>
              </a:rPr>
              <a:t>Greedy property: each step chooses a feasible resource now. Limitation: no guarantee of globally optimal allocation.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930"/>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27BEAE"/>
                </a:solidFill>
                <a:latin typeface="Aptos"/>
              </a:rPr>
              <a:t> PATTERN RECOGNITION</a:t>
            </a:r>
          </a:p>
        </p:txBody>
      </p:sp>
      <p:sp>
        <p:nvSpPr>
          <p:cNvPr id="3" name="TextBox 2"/>
          <p:cNvSpPr txBox="1"/>
          <p:nvPr/>
        </p:nvSpPr>
        <p:spPr>
          <a:xfrm>
            <a:off x="529799" y="616721"/>
            <a:ext cx="11052715" cy="502396"/>
          </a:xfrm>
          <a:prstGeom prst="rect">
            <a:avLst/>
          </a:prstGeom>
          <a:noFill/>
        </p:spPr>
        <p:txBody>
          <a:bodyPr wrap="square" lIns="36538" tIns="36538" rIns="36538" bIns="36538" anchor="t">
            <a:spAutoFit/>
          </a:bodyPr>
          <a:lstStyle/>
          <a:p>
            <a:pPr defTabSz="456743" hangingPunct="1"/>
            <a:r>
              <a:rPr sz="2697" b="1" kern="1200">
                <a:solidFill>
                  <a:srgbClr val="F7F9FD"/>
                </a:solidFill>
                <a:latin typeface="Aptos"/>
              </a:rPr>
              <a:t>Rule-based suggestions connect symptoms to demo equipment</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AEBED8"/>
                </a:solidFill>
                <a:latin typeface="Aptos"/>
              </a:rPr>
              <a:t>Simple pattern matching, explicit rules, and transparent output — not a trained AI model.</a:t>
            </a:r>
          </a:p>
        </p:txBody>
      </p:sp>
      <p:sp>
        <p:nvSpPr>
          <p:cNvPr id="5" name="Rectangle 4"/>
          <p:cNvSpPr/>
          <p:nvPr/>
        </p:nvSpPr>
        <p:spPr>
          <a:xfrm>
            <a:off x="529800" y="6507319"/>
            <a:ext cx="11098387" cy="16442"/>
          </a:xfrm>
          <a:prstGeom prst="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AEBED8"/>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AEBED8"/>
                </a:solidFill>
                <a:latin typeface="Aptos"/>
              </a:rPr>
              <a:t>08</a:t>
            </a:r>
          </a:p>
        </p:txBody>
      </p:sp>
      <p:sp>
        <p:nvSpPr>
          <p:cNvPr id="8" name="Rounded Rectangle 7"/>
          <p:cNvSpPr/>
          <p:nvPr/>
        </p:nvSpPr>
        <p:spPr>
          <a:xfrm>
            <a:off x="639413" y="1647778"/>
            <a:ext cx="5937409" cy="3471100"/>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TextBox 8"/>
          <p:cNvSpPr txBox="1"/>
          <p:nvPr/>
        </p:nvSpPr>
        <p:spPr>
          <a:xfrm>
            <a:off x="803833" y="1739122"/>
            <a:ext cx="5617702" cy="212017"/>
          </a:xfrm>
          <a:prstGeom prst="rect">
            <a:avLst/>
          </a:prstGeom>
          <a:noFill/>
        </p:spPr>
        <p:txBody>
          <a:bodyPr wrap="square" lIns="36538" tIns="36538" rIns="36538" bIns="36538" anchor="t">
            <a:spAutoFit/>
          </a:bodyPr>
          <a:lstStyle/>
          <a:p>
            <a:pPr defTabSz="456743" hangingPunct="1"/>
            <a:r>
              <a:rPr sz="899" b="1" kern="1200">
                <a:solidFill>
                  <a:srgbClr val="27BEAE"/>
                </a:solidFill>
                <a:latin typeface="Aptos"/>
              </a:rPr>
              <a:t>app.py — resource_rules()</a:t>
            </a:r>
          </a:p>
        </p:txBody>
      </p:sp>
      <p:sp>
        <p:nvSpPr>
          <p:cNvPr id="10" name="TextBox 9"/>
          <p:cNvSpPr txBox="1"/>
          <p:nvPr/>
        </p:nvSpPr>
        <p:spPr>
          <a:xfrm>
            <a:off x="803833" y="1994888"/>
            <a:ext cx="5608568" cy="1318473"/>
          </a:xfrm>
          <a:prstGeom prst="rect">
            <a:avLst/>
          </a:prstGeom>
          <a:noFill/>
        </p:spPr>
        <p:txBody>
          <a:bodyPr wrap="square" lIns="0" tIns="0" rIns="0" bIns="0">
            <a:spAutoFit/>
          </a:bodyPr>
          <a:lstStyle/>
          <a:p>
            <a:pPr defTabSz="456743" hangingPunct="1">
              <a:spcAft>
                <a:spcPts val="100"/>
              </a:spcAft>
              <a:defRPr sz="1000">
                <a:solidFill>
                  <a:srgbClr val="C7DDF7"/>
                </a:solidFill>
                <a:latin typeface="Menlo"/>
              </a:defRPr>
            </a:pPr>
            <a:r>
              <a:rPr sz="999" kern="1200">
                <a:solidFill>
                  <a:srgbClr val="C7DDF7"/>
                </a:solidFill>
                <a:latin typeface="Menlo"/>
              </a:rPr>
              <a:t>def resource_rules(symptoms, severity):</a:t>
            </a:r>
          </a:p>
          <a:p>
            <a:pPr defTabSz="456743" hangingPunct="1">
              <a:spcAft>
                <a:spcPts val="100"/>
              </a:spcAft>
              <a:defRPr sz="1000">
                <a:solidFill>
                  <a:srgbClr val="C7DDF7"/>
                </a:solidFill>
                <a:latin typeface="Menlo"/>
              </a:defRPr>
            </a:pPr>
            <a:r>
              <a:rPr sz="999" kern="1200">
                <a:solidFill>
                  <a:srgbClr val="C7DDF7"/>
                </a:solidFill>
                <a:latin typeface="Menlo"/>
              </a:rPr>
              <a:t>    text = symptoms.lower()</a:t>
            </a:r>
          </a:p>
          <a:p>
            <a:pPr defTabSz="456743" hangingPunct="1">
              <a:spcAft>
                <a:spcPts val="100"/>
              </a:spcAft>
              <a:defRPr sz="1000">
                <a:solidFill>
                  <a:srgbClr val="C7DDF7"/>
                </a:solidFill>
                <a:latin typeface="Menlo"/>
              </a:defRPr>
            </a:pPr>
            <a:r>
              <a:rPr sz="999" kern="1200">
                <a:solidFill>
                  <a:srgbClr val="C7DDF7"/>
                </a:solidFill>
                <a:latin typeface="Menlo"/>
              </a:rPr>
              <a:t>    requested = []</a:t>
            </a:r>
          </a:p>
          <a:p>
            <a:pPr defTabSz="456743" hangingPunct="1">
              <a:spcAft>
                <a:spcPts val="100"/>
              </a:spcAft>
              <a:defRPr sz="1000">
                <a:solidFill>
                  <a:srgbClr val="C7DDF7"/>
                </a:solidFill>
                <a:latin typeface="Menlo"/>
              </a:defRPr>
            </a:pPr>
            <a:r>
              <a:rPr sz="999" kern="1200">
                <a:solidFill>
                  <a:srgbClr val="C7DDF7"/>
                </a:solidFill>
                <a:latin typeface="Menlo"/>
              </a:rPr>
              <a:t>    if any(w in text for w in ("breath", "oxygen")):</a:t>
            </a:r>
          </a:p>
          <a:p>
            <a:pPr defTabSz="456743" hangingPunct="1">
              <a:spcAft>
                <a:spcPts val="100"/>
              </a:spcAft>
              <a:defRPr sz="1000">
                <a:solidFill>
                  <a:srgbClr val="C7DDF7"/>
                </a:solidFill>
                <a:latin typeface="Menlo"/>
              </a:defRPr>
            </a:pPr>
            <a:r>
              <a:rPr sz="999" kern="1200">
                <a:solidFill>
                  <a:srgbClr val="C7DDF7"/>
                </a:solidFill>
                <a:latin typeface="Menlo"/>
              </a:rPr>
              <a:t>        requested.extend(["Oxygen cylinders", "Patient monitors"])</a:t>
            </a:r>
          </a:p>
          <a:p>
            <a:pPr defTabSz="456743" hangingPunct="1">
              <a:spcAft>
                <a:spcPts val="100"/>
              </a:spcAft>
              <a:defRPr sz="1000">
                <a:solidFill>
                  <a:srgbClr val="C7DDF7"/>
                </a:solidFill>
                <a:latin typeface="Menlo"/>
              </a:defRPr>
            </a:pPr>
            <a:r>
              <a:rPr sz="999" kern="1200">
                <a:solidFill>
                  <a:srgbClr val="C7DDF7"/>
                </a:solidFill>
                <a:latin typeface="Menlo"/>
              </a:rPr>
              <a:t>    if any(w in text for w in ("fracture", "injury", "fall")):</a:t>
            </a:r>
          </a:p>
          <a:p>
            <a:pPr defTabSz="456743" hangingPunct="1">
              <a:spcAft>
                <a:spcPts val="100"/>
              </a:spcAft>
              <a:defRPr sz="1000">
                <a:solidFill>
                  <a:srgbClr val="C7DDF7"/>
                </a:solidFill>
                <a:latin typeface="Menlo"/>
              </a:defRPr>
            </a:pPr>
            <a:r>
              <a:rPr sz="999" kern="1200">
                <a:solidFill>
                  <a:srgbClr val="C7DDF7"/>
                </a:solidFill>
                <a:latin typeface="Menlo"/>
              </a:rPr>
              <a:t>        requested.append("Wheelchairs")</a:t>
            </a:r>
          </a:p>
          <a:p>
            <a:pPr defTabSz="456743" hangingPunct="1">
              <a:spcAft>
                <a:spcPts val="100"/>
              </a:spcAft>
              <a:defRPr sz="1000">
                <a:solidFill>
                  <a:srgbClr val="C7DDF7"/>
                </a:solidFill>
                <a:latin typeface="Menlo"/>
              </a:defRPr>
            </a:pPr>
            <a:r>
              <a:rPr sz="999" kern="1200">
                <a:solidFill>
                  <a:srgbClr val="C7DDF7"/>
                </a:solidFill>
                <a:latin typeface="Menlo"/>
              </a:rPr>
              <a:t>    return list(dict.fromkeys(requested))</a:t>
            </a:r>
          </a:p>
        </p:txBody>
      </p:sp>
      <p:sp>
        <p:nvSpPr>
          <p:cNvPr id="11" name="Rounded Rectangle 10"/>
          <p:cNvSpPr/>
          <p:nvPr/>
        </p:nvSpPr>
        <p:spPr>
          <a:xfrm>
            <a:off x="6942201" y="1739122"/>
            <a:ext cx="4475893" cy="1004792"/>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2" name="Rectangle 11"/>
          <p:cNvSpPr/>
          <p:nvPr/>
        </p:nvSpPr>
        <p:spPr>
          <a:xfrm>
            <a:off x="6942201" y="1739122"/>
            <a:ext cx="63941" cy="1004792"/>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TextBox 12"/>
          <p:cNvSpPr txBox="1"/>
          <p:nvPr/>
        </p:nvSpPr>
        <p:spPr>
          <a:xfrm>
            <a:off x="7124890" y="1885274"/>
            <a:ext cx="414705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Example A</a:t>
            </a:r>
          </a:p>
        </p:txBody>
      </p:sp>
      <p:sp>
        <p:nvSpPr>
          <p:cNvPr id="14" name="TextBox 13"/>
          <p:cNvSpPr txBox="1"/>
          <p:nvPr/>
        </p:nvSpPr>
        <p:spPr>
          <a:xfrm>
            <a:off x="7124890" y="2259787"/>
            <a:ext cx="4128783" cy="258135"/>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“shortness of breath” → oxygen cylinder + patient monitor</a:t>
            </a:r>
          </a:p>
        </p:txBody>
      </p:sp>
      <p:sp>
        <p:nvSpPr>
          <p:cNvPr id="15" name="Rounded Rectangle 14"/>
          <p:cNvSpPr/>
          <p:nvPr/>
        </p:nvSpPr>
        <p:spPr>
          <a:xfrm>
            <a:off x="6942201" y="2926604"/>
            <a:ext cx="4475893" cy="1004792"/>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6" name="Rectangle 15"/>
          <p:cNvSpPr/>
          <p:nvPr/>
        </p:nvSpPr>
        <p:spPr>
          <a:xfrm>
            <a:off x="6942201" y="2926604"/>
            <a:ext cx="63941" cy="1004792"/>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7" name="TextBox 16"/>
          <p:cNvSpPr txBox="1"/>
          <p:nvPr/>
        </p:nvSpPr>
        <p:spPr>
          <a:xfrm>
            <a:off x="7124890" y="3072756"/>
            <a:ext cx="414705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Example B</a:t>
            </a:r>
          </a:p>
        </p:txBody>
      </p:sp>
      <p:sp>
        <p:nvSpPr>
          <p:cNvPr id="18" name="TextBox 17"/>
          <p:cNvSpPr txBox="1"/>
          <p:nvPr/>
        </p:nvSpPr>
        <p:spPr>
          <a:xfrm>
            <a:off x="7124890" y="3447269"/>
            <a:ext cx="4128783" cy="258135"/>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“fall / fracture” → wheelchair suggestion</a:t>
            </a:r>
          </a:p>
        </p:txBody>
      </p:sp>
      <p:sp>
        <p:nvSpPr>
          <p:cNvPr id="19" name="Rounded Rectangle 18"/>
          <p:cNvSpPr/>
          <p:nvPr/>
        </p:nvSpPr>
        <p:spPr>
          <a:xfrm>
            <a:off x="6942201" y="4114086"/>
            <a:ext cx="4475893" cy="1004792"/>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0" name="Rectangle 19"/>
          <p:cNvSpPr/>
          <p:nvPr/>
        </p:nvSpPr>
        <p:spPr>
          <a:xfrm>
            <a:off x="6942201" y="4114086"/>
            <a:ext cx="63941" cy="1004792"/>
          </a:xfrm>
          <a:prstGeom prst="rect">
            <a:avLst/>
          </a:prstGeom>
          <a:solidFill>
            <a:srgbClr val="EB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1" name="TextBox 20"/>
          <p:cNvSpPr txBox="1"/>
          <p:nvPr/>
        </p:nvSpPr>
        <p:spPr>
          <a:xfrm>
            <a:off x="7124890" y="4260237"/>
            <a:ext cx="4147052"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Example C</a:t>
            </a:r>
          </a:p>
        </p:txBody>
      </p:sp>
      <p:sp>
        <p:nvSpPr>
          <p:cNvPr id="22" name="TextBox 21"/>
          <p:cNvSpPr txBox="1"/>
          <p:nvPr/>
        </p:nvSpPr>
        <p:spPr>
          <a:xfrm>
            <a:off x="7124890" y="4634751"/>
            <a:ext cx="4128783" cy="258135"/>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“IV fluid” → infusion pump suggestion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ITERATION AND GENERATORS</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CSV export uses a generator to yield rows on demand</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The generator formats one record at a time instead of building a second list of all formatted rows.</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657794"/>
                </a:solidFill>
                <a:latin typeface="Aptos"/>
              </a:rPr>
              <a:t>09</a:t>
            </a:r>
          </a:p>
        </p:txBody>
      </p:sp>
      <p:grpSp>
        <p:nvGrpSpPr>
          <p:cNvPr id="23" name="Group 22">
            <a:extLst>
              <a:ext uri="{FF2B5EF4-FFF2-40B4-BE49-F238E27FC236}">
                <a16:creationId xmlns:a16="http://schemas.microsoft.com/office/drawing/2014/main" id="{03C12E88-6EE1-FB98-E902-683645F21352}"/>
              </a:ext>
            </a:extLst>
          </p:cNvPr>
          <p:cNvGrpSpPr/>
          <p:nvPr/>
        </p:nvGrpSpPr>
        <p:grpSpPr>
          <a:xfrm>
            <a:off x="689653" y="2024872"/>
            <a:ext cx="10641663" cy="2557653"/>
            <a:chOff x="685086" y="1739122"/>
            <a:chExt cx="10641663" cy="2557653"/>
          </a:xfrm>
        </p:grpSpPr>
        <p:sp>
          <p:nvSpPr>
            <p:cNvPr id="8" name="Rounded Rectangle 7"/>
            <p:cNvSpPr/>
            <p:nvPr/>
          </p:nvSpPr>
          <p:spPr>
            <a:xfrm>
              <a:off x="685086" y="1739122"/>
              <a:ext cx="5709047" cy="2557653"/>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TextBox 8"/>
            <p:cNvSpPr txBox="1"/>
            <p:nvPr/>
          </p:nvSpPr>
          <p:spPr>
            <a:xfrm>
              <a:off x="849506" y="1830467"/>
              <a:ext cx="5389340" cy="212017"/>
            </a:xfrm>
            <a:prstGeom prst="rect">
              <a:avLst/>
            </a:prstGeom>
            <a:noFill/>
          </p:spPr>
          <p:txBody>
            <a:bodyPr wrap="square" lIns="36538" tIns="36538" rIns="36538" bIns="36538" anchor="t">
              <a:spAutoFit/>
            </a:bodyPr>
            <a:lstStyle/>
            <a:p>
              <a:pPr defTabSz="456743" hangingPunct="1"/>
              <a:r>
                <a:rPr sz="899" b="1" kern="1200">
                  <a:solidFill>
                    <a:srgbClr val="27BEAE"/>
                  </a:solidFill>
                  <a:latin typeface="Aptos"/>
                </a:rPr>
                <a:t>app.py — iter_csv_rows()</a:t>
              </a:r>
            </a:p>
          </p:txBody>
        </p:sp>
        <p:sp>
          <p:nvSpPr>
            <p:cNvPr id="10" name="TextBox 9"/>
            <p:cNvSpPr txBox="1"/>
            <p:nvPr/>
          </p:nvSpPr>
          <p:spPr>
            <a:xfrm>
              <a:off x="849506" y="2086231"/>
              <a:ext cx="5380206" cy="1259672"/>
            </a:xfrm>
            <a:prstGeom prst="rect">
              <a:avLst/>
            </a:prstGeom>
            <a:noFill/>
          </p:spPr>
          <p:txBody>
            <a:bodyPr wrap="square" lIns="0" tIns="0" rIns="0" bIns="0">
              <a:spAutoFit/>
            </a:bodyPr>
            <a:lstStyle/>
            <a:p>
              <a:pPr defTabSz="456743" hangingPunct="1">
                <a:spcAft>
                  <a:spcPts val="100"/>
                </a:spcAft>
                <a:defRPr sz="1100">
                  <a:solidFill>
                    <a:srgbClr val="C7DDF7"/>
                  </a:solidFill>
                  <a:latin typeface="Menlo"/>
                </a:defRPr>
              </a:pPr>
              <a:r>
                <a:rPr sz="1099" kern="1200">
                  <a:solidFill>
                    <a:srgbClr val="C7DDF7"/>
                  </a:solidFill>
                  <a:latin typeface="Menlo"/>
                </a:rPr>
                <a:t>def iter_csv_rows(rows):</a:t>
              </a:r>
            </a:p>
            <a:p>
              <a:pPr defTabSz="456743" hangingPunct="1">
                <a:spcAft>
                  <a:spcPts val="100"/>
                </a:spcAft>
                <a:defRPr sz="1100">
                  <a:solidFill>
                    <a:srgbClr val="C7DDF7"/>
                  </a:solidFill>
                  <a:latin typeface="Menlo"/>
                </a:defRPr>
              </a:pPr>
              <a:r>
                <a:rPr sz="1099" kern="1200">
                  <a:solidFill>
                    <a:srgbClr val="C7DDF7"/>
                  </a:solidFill>
                  <a:latin typeface="Menlo"/>
                </a:rPr>
                <a:t>    yield ["Patient ID", "Name", "Phone", ...]</a:t>
              </a:r>
            </a:p>
            <a:p>
              <a:pPr defTabSz="456743" hangingPunct="1">
                <a:spcAft>
                  <a:spcPts val="100"/>
                </a:spcAft>
                <a:defRPr sz="1100">
                  <a:solidFill>
                    <a:srgbClr val="C7DDF7"/>
                  </a:solidFill>
                  <a:latin typeface="Menlo"/>
                </a:defRPr>
              </a:pPr>
              <a:r>
                <a:rPr sz="1099" kern="1200">
                  <a:solidFill>
                    <a:srgbClr val="C7DDF7"/>
                  </a:solidFill>
                  <a:latin typeface="Menlo"/>
                </a:rPr>
                <a:t>    for row in rows:</a:t>
              </a:r>
            </a:p>
            <a:p>
              <a:pPr defTabSz="456743" hangingPunct="1">
                <a:spcAft>
                  <a:spcPts val="100"/>
                </a:spcAft>
                <a:defRPr sz="1100">
                  <a:solidFill>
                    <a:srgbClr val="C7DDF7"/>
                  </a:solidFill>
                  <a:latin typeface="Menlo"/>
                </a:defRPr>
              </a:pPr>
              <a:r>
                <a:rPr sz="1099" kern="1200">
                  <a:solidFill>
                    <a:srgbClr val="C7DDF7"/>
                  </a:solidFill>
                  <a:latin typeface="Menlo"/>
                </a:rPr>
                <a:t>        yield [row["id"], row["name"], row["phone"], ...]</a:t>
              </a:r>
            </a:p>
            <a:p>
              <a:pPr defTabSz="456743" hangingPunct="1">
                <a:spcAft>
                  <a:spcPts val="100"/>
                </a:spcAft>
                <a:defRPr sz="1100">
                  <a:solidFill>
                    <a:srgbClr val="C7DDF7"/>
                  </a:solidFill>
                  <a:latin typeface="Menlo"/>
                </a:defRPr>
              </a:pPr>
              <a:endParaRPr sz="1099" kern="1200">
                <a:solidFill>
                  <a:srgbClr val="C7DDF7"/>
                </a:solidFill>
                <a:latin typeface="Menlo"/>
              </a:endParaRPr>
            </a:p>
            <a:p>
              <a:pPr defTabSz="456743" hangingPunct="1">
                <a:spcAft>
                  <a:spcPts val="100"/>
                </a:spcAft>
                <a:defRPr sz="1100">
                  <a:solidFill>
                    <a:srgbClr val="C7DDF7"/>
                  </a:solidFill>
                  <a:latin typeface="Menlo"/>
                </a:defRPr>
              </a:pPr>
              <a:r>
                <a:rPr sz="1099" kern="1200">
                  <a:solidFill>
                    <a:srgbClr val="C7DDF7"/>
                  </a:solidFill>
                  <a:latin typeface="Menlo"/>
                </a:rPr>
                <a:t>writer = csv.writer(output)</a:t>
              </a:r>
            </a:p>
            <a:p>
              <a:pPr defTabSz="456743" hangingPunct="1">
                <a:spcAft>
                  <a:spcPts val="100"/>
                </a:spcAft>
                <a:defRPr sz="1100">
                  <a:solidFill>
                    <a:srgbClr val="C7DDF7"/>
                  </a:solidFill>
                  <a:latin typeface="Menlo"/>
                </a:defRPr>
              </a:pPr>
              <a:r>
                <a:rPr sz="1099" kern="1200">
                  <a:solidFill>
                    <a:srgbClr val="C7DDF7"/>
                  </a:solidFill>
                  <a:latin typeface="Menlo"/>
                </a:rPr>
                <a:t>writer.writerows(iter_csv_rows(rows))</a:t>
              </a:r>
            </a:p>
          </p:txBody>
        </p:sp>
        <p:sp>
          <p:nvSpPr>
            <p:cNvPr id="11" name="Rounded Rectangle 10"/>
            <p:cNvSpPr/>
            <p:nvPr/>
          </p:nvSpPr>
          <p:spPr>
            <a:xfrm>
              <a:off x="6759511" y="1784794"/>
              <a:ext cx="4567238" cy="1050465"/>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2" name="Rectangle 11"/>
            <p:cNvSpPr/>
            <p:nvPr/>
          </p:nvSpPr>
          <p:spPr>
            <a:xfrm>
              <a:off x="6759512" y="1784794"/>
              <a:ext cx="63941" cy="1050465"/>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TextBox 12"/>
            <p:cNvSpPr txBox="1"/>
            <p:nvPr/>
          </p:nvSpPr>
          <p:spPr>
            <a:xfrm>
              <a:off x="6942201" y="1930946"/>
              <a:ext cx="4238396"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What yield does</a:t>
              </a:r>
            </a:p>
          </p:txBody>
        </p:sp>
        <p:sp>
          <p:nvSpPr>
            <p:cNvPr id="14" name="TextBox 13"/>
            <p:cNvSpPr txBox="1"/>
            <p:nvPr/>
          </p:nvSpPr>
          <p:spPr>
            <a:xfrm>
              <a:off x="6942201" y="2305460"/>
              <a:ext cx="4220127" cy="44286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Returns the next row when requested; it does not create one list containing every formatted row.</a:t>
              </a:r>
            </a:p>
          </p:txBody>
        </p:sp>
        <p:sp>
          <p:nvSpPr>
            <p:cNvPr id="15" name="Rounded Rectangle 14"/>
            <p:cNvSpPr/>
            <p:nvPr/>
          </p:nvSpPr>
          <p:spPr>
            <a:xfrm>
              <a:off x="6759511" y="3017948"/>
              <a:ext cx="4567238" cy="1050465"/>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6" name="Rectangle 15"/>
            <p:cNvSpPr/>
            <p:nvPr/>
          </p:nvSpPr>
          <p:spPr>
            <a:xfrm>
              <a:off x="6759512" y="3017948"/>
              <a:ext cx="63941" cy="1050465"/>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7" name="TextBox 16"/>
            <p:cNvSpPr txBox="1"/>
            <p:nvPr/>
          </p:nvSpPr>
          <p:spPr>
            <a:xfrm>
              <a:off x="6942201" y="3164100"/>
              <a:ext cx="4238396"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Why use it?</a:t>
              </a:r>
            </a:p>
          </p:txBody>
        </p:sp>
        <p:sp>
          <p:nvSpPr>
            <p:cNvPr id="18" name="TextBox 17"/>
            <p:cNvSpPr txBox="1"/>
            <p:nvPr/>
          </p:nvSpPr>
          <p:spPr>
            <a:xfrm>
              <a:off x="6942201" y="3538613"/>
              <a:ext cx="4220127" cy="44286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Cleaner row-by-row processing and less intermediate memory than a second formatted-row list.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VISUAL ANALYTICS</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Dashboard: summaries + charts make state visible</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Charts are calculated from patient records and timestamps, not manually typed sample counts.</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657794"/>
                </a:solidFill>
                <a:latin typeface="Aptos"/>
              </a:rPr>
              <a:t>10</a:t>
            </a:r>
          </a:p>
        </p:txBody>
      </p:sp>
      <p:sp>
        <p:nvSpPr>
          <p:cNvPr id="8" name="Rounded Rectangle 7"/>
          <p:cNvSpPr/>
          <p:nvPr/>
        </p:nvSpPr>
        <p:spPr>
          <a:xfrm>
            <a:off x="548068" y="1574702"/>
            <a:ext cx="6668167" cy="4430220"/>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0" name="Rounded Rectangle 9"/>
          <p:cNvSpPr/>
          <p:nvPr/>
        </p:nvSpPr>
        <p:spPr>
          <a:xfrm>
            <a:off x="7444597" y="1574702"/>
            <a:ext cx="4156186" cy="2100929"/>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pic>
        <p:nvPicPr>
          <p:cNvPr id="11" name="Picture 10" descr="Screenshot 2026-10-13 at 9.47.46 PM.png"/>
          <p:cNvPicPr>
            <a:picLocks noChangeAspect="1"/>
          </p:cNvPicPr>
          <p:nvPr/>
        </p:nvPicPr>
        <p:blipFill>
          <a:blip r:embed="rId2"/>
          <a:stretch>
            <a:fillRect/>
          </a:stretch>
        </p:blipFill>
        <p:spPr>
          <a:xfrm>
            <a:off x="7517673" y="1908372"/>
            <a:ext cx="4010034" cy="1433587"/>
          </a:xfrm>
          <a:prstGeom prst="rect">
            <a:avLst/>
          </a:prstGeom>
        </p:spPr>
      </p:pic>
      <p:sp>
        <p:nvSpPr>
          <p:cNvPr id="12" name="Rounded Rectangle 11"/>
          <p:cNvSpPr/>
          <p:nvPr/>
        </p:nvSpPr>
        <p:spPr>
          <a:xfrm>
            <a:off x="7444597" y="3931396"/>
            <a:ext cx="4156186" cy="2073526"/>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pic>
        <p:nvPicPr>
          <p:cNvPr id="16" name="Picture 15">
            <a:extLst>
              <a:ext uri="{FF2B5EF4-FFF2-40B4-BE49-F238E27FC236}">
                <a16:creationId xmlns:a16="http://schemas.microsoft.com/office/drawing/2014/main" id="{761E3663-67FF-8788-990B-41D9B2E34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603" y="1810341"/>
            <a:ext cx="6335971" cy="3982117"/>
          </a:xfrm>
          <a:prstGeom prst="rect">
            <a:avLst/>
          </a:prstGeom>
        </p:spPr>
      </p:pic>
      <p:pic>
        <p:nvPicPr>
          <p:cNvPr id="20" name="Picture 19">
            <a:extLst>
              <a:ext uri="{FF2B5EF4-FFF2-40B4-BE49-F238E27FC236}">
                <a16:creationId xmlns:a16="http://schemas.microsoft.com/office/drawing/2014/main" id="{50061094-A7A3-B068-E3B7-58067896AD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5320" y="4009301"/>
            <a:ext cx="3905709" cy="18466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WORKING FEATURES</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Resource management and treatment history</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The visual interface is evidence of the workflow — the underlying state changes are handled in Flask and SQLite.</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657794"/>
                </a:solidFill>
                <a:latin typeface="Aptos"/>
              </a:rPr>
              <a:t>11</a:t>
            </a:r>
          </a:p>
        </p:txBody>
      </p:sp>
      <p:sp>
        <p:nvSpPr>
          <p:cNvPr id="8" name="Rounded Rectangle 7"/>
          <p:cNvSpPr/>
          <p:nvPr/>
        </p:nvSpPr>
        <p:spPr>
          <a:xfrm>
            <a:off x="548069" y="1574702"/>
            <a:ext cx="6622494" cy="4521565"/>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0" name="Rounded Rectangle 9"/>
          <p:cNvSpPr/>
          <p:nvPr/>
        </p:nvSpPr>
        <p:spPr>
          <a:xfrm>
            <a:off x="7353252" y="1574702"/>
            <a:ext cx="4247531" cy="2466308"/>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2" name="Rounded Rectangle 11"/>
          <p:cNvSpPr/>
          <p:nvPr/>
        </p:nvSpPr>
        <p:spPr>
          <a:xfrm>
            <a:off x="7353252" y="4251103"/>
            <a:ext cx="4247531" cy="1845164"/>
          </a:xfrm>
          <a:prstGeom prst="roundRect">
            <a:avLst>
              <a:gd name="adj" fmla="val 12000"/>
            </a:avLst>
          </a:prstGeom>
          <a:solidFill>
            <a:srgbClr val="F7F9FD"/>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657682" y="6233284"/>
            <a:ext cx="6394133" cy="212017"/>
          </a:xfrm>
          <a:prstGeom prst="rect">
            <a:avLst/>
          </a:prstGeom>
          <a:noFill/>
        </p:spPr>
        <p:txBody>
          <a:bodyPr wrap="square" lIns="36538" tIns="36538" rIns="36538" bIns="36538" anchor="t">
            <a:spAutoFit/>
          </a:bodyPr>
          <a:lstStyle/>
          <a:p>
            <a:pPr defTabSz="456743" hangingPunct="1"/>
            <a:r>
              <a:rPr sz="899" b="1" kern="1200">
                <a:solidFill>
                  <a:srgbClr val="315FE8"/>
                </a:solidFill>
                <a:latin typeface="Aptos"/>
              </a:rPr>
              <a:t>Beds &amp; Resources: inventory, status filters, availability, assigned patient, and equipment quantities.</a:t>
            </a:r>
          </a:p>
        </p:txBody>
      </p:sp>
      <p:pic>
        <p:nvPicPr>
          <p:cNvPr id="16" name="Picture 15">
            <a:extLst>
              <a:ext uri="{FF2B5EF4-FFF2-40B4-BE49-F238E27FC236}">
                <a16:creationId xmlns:a16="http://schemas.microsoft.com/office/drawing/2014/main" id="{F42EFF5F-7591-5B7B-ED36-B020C121F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545" y="1964820"/>
            <a:ext cx="6582406" cy="3671381"/>
          </a:xfrm>
          <a:prstGeom prst="rect">
            <a:avLst/>
          </a:prstGeom>
        </p:spPr>
      </p:pic>
      <p:pic>
        <p:nvPicPr>
          <p:cNvPr id="18" name="Picture 17">
            <a:extLst>
              <a:ext uri="{FF2B5EF4-FFF2-40B4-BE49-F238E27FC236}">
                <a16:creationId xmlns:a16="http://schemas.microsoft.com/office/drawing/2014/main" id="{A133D692-AC9B-40E3-E64A-E210601F9A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9937" y="1703329"/>
            <a:ext cx="4148272" cy="2251154"/>
          </a:xfrm>
          <a:prstGeom prst="rect">
            <a:avLst/>
          </a:prstGeom>
        </p:spPr>
      </p:pic>
      <p:pic>
        <p:nvPicPr>
          <p:cNvPr id="20" name="Picture 19">
            <a:extLst>
              <a:ext uri="{FF2B5EF4-FFF2-40B4-BE49-F238E27FC236}">
                <a16:creationId xmlns:a16="http://schemas.microsoft.com/office/drawing/2014/main" id="{6C69BCA8-FFA4-8CA3-004C-D28136F975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9545" y="4348719"/>
            <a:ext cx="3497803" cy="16694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930"/>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27BEAE"/>
                </a:solidFill>
                <a:latin typeface="Aptos"/>
              </a:rPr>
              <a:t>PERSISTENCE AND CORRECTNESS</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F7F9FD"/>
                </a:solidFill>
                <a:latin typeface="Aptos"/>
              </a:rPr>
              <a:t>SQLite keeps the workflow state consistent</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AEBED8"/>
                </a:solidFill>
                <a:latin typeface="Aptos"/>
              </a:rPr>
              <a:t>Relational records allow the application to link patients, doctors, beds, and equipment assignments.</a:t>
            </a:r>
          </a:p>
        </p:txBody>
      </p:sp>
      <p:sp>
        <p:nvSpPr>
          <p:cNvPr id="5" name="Rectangle 4"/>
          <p:cNvSpPr/>
          <p:nvPr/>
        </p:nvSpPr>
        <p:spPr>
          <a:xfrm>
            <a:off x="529800" y="6507319"/>
            <a:ext cx="11098387" cy="16442"/>
          </a:xfrm>
          <a:prstGeom prst="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AEBED8"/>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a:solidFill>
                  <a:srgbClr val="AEBED8"/>
                </a:solidFill>
                <a:latin typeface="Aptos"/>
              </a:rPr>
              <a:t>12</a:t>
            </a:r>
          </a:p>
        </p:txBody>
      </p:sp>
      <p:sp>
        <p:nvSpPr>
          <p:cNvPr id="8" name="Rounded Rectangle 7"/>
          <p:cNvSpPr/>
          <p:nvPr/>
        </p:nvSpPr>
        <p:spPr>
          <a:xfrm>
            <a:off x="639413" y="1647777"/>
            <a:ext cx="2511981" cy="132449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Rectangle 8"/>
          <p:cNvSpPr/>
          <p:nvPr/>
        </p:nvSpPr>
        <p:spPr>
          <a:xfrm>
            <a:off x="639413" y="1647777"/>
            <a:ext cx="63941" cy="1324499"/>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0" name="TextBox 9"/>
          <p:cNvSpPr txBox="1"/>
          <p:nvPr/>
        </p:nvSpPr>
        <p:spPr>
          <a:xfrm>
            <a:off x="822102" y="1793929"/>
            <a:ext cx="2183140"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patients</a:t>
            </a:r>
          </a:p>
        </p:txBody>
      </p:sp>
      <p:sp>
        <p:nvSpPr>
          <p:cNvPr id="11" name="TextBox 10"/>
          <p:cNvSpPr txBox="1"/>
          <p:nvPr/>
        </p:nvSpPr>
        <p:spPr>
          <a:xfrm>
            <a:off x="822102" y="2168442"/>
            <a:ext cx="2164871"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Severity, symptoms, status, timestamps, doctor_id, bed_id</a:t>
            </a:r>
          </a:p>
        </p:txBody>
      </p:sp>
      <p:sp>
        <p:nvSpPr>
          <p:cNvPr id="12" name="Rounded Rectangle 11"/>
          <p:cNvSpPr/>
          <p:nvPr/>
        </p:nvSpPr>
        <p:spPr>
          <a:xfrm>
            <a:off x="3334083" y="1647777"/>
            <a:ext cx="2511981" cy="132449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Rectangle 12"/>
          <p:cNvSpPr/>
          <p:nvPr/>
        </p:nvSpPr>
        <p:spPr>
          <a:xfrm>
            <a:off x="3334084" y="1647777"/>
            <a:ext cx="63941" cy="1324499"/>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3516773" y="1793929"/>
            <a:ext cx="2183140"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doctors</a:t>
            </a:r>
          </a:p>
        </p:txBody>
      </p:sp>
      <p:sp>
        <p:nvSpPr>
          <p:cNvPr id="15" name="TextBox 14"/>
          <p:cNvSpPr txBox="1"/>
          <p:nvPr/>
        </p:nvSpPr>
        <p:spPr>
          <a:xfrm>
            <a:off x="3516773" y="2168442"/>
            <a:ext cx="2164871"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Name, specialty, available / busy / off duty</a:t>
            </a:r>
          </a:p>
        </p:txBody>
      </p:sp>
      <p:sp>
        <p:nvSpPr>
          <p:cNvPr id="16" name="Rounded Rectangle 15"/>
          <p:cNvSpPr/>
          <p:nvPr/>
        </p:nvSpPr>
        <p:spPr>
          <a:xfrm>
            <a:off x="6028753" y="1647777"/>
            <a:ext cx="2511981" cy="132449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7" name="Rectangle 16"/>
          <p:cNvSpPr/>
          <p:nvPr/>
        </p:nvSpPr>
        <p:spPr>
          <a:xfrm>
            <a:off x="6028754" y="1647777"/>
            <a:ext cx="63941" cy="1324499"/>
          </a:xfrm>
          <a:prstGeom prst="rect">
            <a:avLst/>
          </a:prstGeom>
          <a:solidFill>
            <a:srgbClr val="EB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8" name="TextBox 17"/>
          <p:cNvSpPr txBox="1"/>
          <p:nvPr/>
        </p:nvSpPr>
        <p:spPr>
          <a:xfrm>
            <a:off x="6211443" y="1793929"/>
            <a:ext cx="2183140"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beds</a:t>
            </a:r>
          </a:p>
        </p:txBody>
      </p:sp>
      <p:sp>
        <p:nvSpPr>
          <p:cNvPr id="19" name="TextBox 18"/>
          <p:cNvSpPr txBox="1"/>
          <p:nvPr/>
        </p:nvSpPr>
        <p:spPr>
          <a:xfrm>
            <a:off x="6211443" y="2168442"/>
            <a:ext cx="2164871"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Identifier and available / occupied / cleaning / reserved</a:t>
            </a:r>
          </a:p>
        </p:txBody>
      </p:sp>
      <p:sp>
        <p:nvSpPr>
          <p:cNvPr id="20" name="Rounded Rectangle 19"/>
          <p:cNvSpPr/>
          <p:nvPr/>
        </p:nvSpPr>
        <p:spPr>
          <a:xfrm>
            <a:off x="8723423" y="1647777"/>
            <a:ext cx="2511981" cy="132449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1" name="Rectangle 20"/>
          <p:cNvSpPr/>
          <p:nvPr/>
        </p:nvSpPr>
        <p:spPr>
          <a:xfrm>
            <a:off x="8723424" y="1647777"/>
            <a:ext cx="63941" cy="1324499"/>
          </a:xfrm>
          <a:prstGeom prst="rect">
            <a:avLst/>
          </a:prstGeom>
          <a:solidFill>
            <a:srgbClr val="64DC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2" name="TextBox 21"/>
          <p:cNvSpPr txBox="1"/>
          <p:nvPr/>
        </p:nvSpPr>
        <p:spPr>
          <a:xfrm>
            <a:off x="8906113" y="1793929"/>
            <a:ext cx="2183140"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assignments</a:t>
            </a:r>
          </a:p>
        </p:txBody>
      </p:sp>
      <p:sp>
        <p:nvSpPr>
          <p:cNvPr id="23" name="TextBox 22"/>
          <p:cNvSpPr txBox="1"/>
          <p:nvPr/>
        </p:nvSpPr>
        <p:spPr>
          <a:xfrm>
            <a:off x="8906113" y="2168442"/>
            <a:ext cx="2164871"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Patient, equipment, quantity, assigned_at, released_at</a:t>
            </a:r>
          </a:p>
        </p:txBody>
      </p:sp>
      <p:sp>
        <p:nvSpPr>
          <p:cNvPr id="24" name="Rounded Rectangle 23"/>
          <p:cNvSpPr/>
          <p:nvPr/>
        </p:nvSpPr>
        <p:spPr>
          <a:xfrm>
            <a:off x="730758" y="3703034"/>
            <a:ext cx="5252323" cy="1826895"/>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5" name="TextBox 24"/>
          <p:cNvSpPr txBox="1"/>
          <p:nvPr/>
        </p:nvSpPr>
        <p:spPr>
          <a:xfrm>
            <a:off x="895178" y="3794378"/>
            <a:ext cx="4932617" cy="212017"/>
          </a:xfrm>
          <a:prstGeom prst="rect">
            <a:avLst/>
          </a:prstGeom>
          <a:noFill/>
        </p:spPr>
        <p:txBody>
          <a:bodyPr wrap="square" lIns="36538" tIns="36538" rIns="36538" bIns="36538" anchor="t">
            <a:spAutoFit/>
          </a:bodyPr>
          <a:lstStyle/>
          <a:p>
            <a:pPr defTabSz="456743" hangingPunct="1"/>
            <a:r>
              <a:rPr sz="899" b="1" kern="1200">
                <a:solidFill>
                  <a:srgbClr val="27BEAE"/>
                </a:solidFill>
                <a:latin typeface="Aptos"/>
              </a:rPr>
              <a:t>TRANSACTION IDEA</a:t>
            </a:r>
          </a:p>
        </p:txBody>
      </p:sp>
      <p:sp>
        <p:nvSpPr>
          <p:cNvPr id="26" name="TextBox 25"/>
          <p:cNvSpPr txBox="1"/>
          <p:nvPr/>
        </p:nvSpPr>
        <p:spPr>
          <a:xfrm>
            <a:off x="895179" y="4050144"/>
            <a:ext cx="4923482" cy="1259672"/>
          </a:xfrm>
          <a:prstGeom prst="rect">
            <a:avLst/>
          </a:prstGeom>
          <a:noFill/>
        </p:spPr>
        <p:txBody>
          <a:bodyPr wrap="square" lIns="0" tIns="0" rIns="0" bIns="0">
            <a:spAutoFit/>
          </a:bodyPr>
          <a:lstStyle/>
          <a:p>
            <a:pPr defTabSz="456743" hangingPunct="1">
              <a:spcAft>
                <a:spcPts val="100"/>
              </a:spcAft>
              <a:defRPr sz="1100">
                <a:solidFill>
                  <a:srgbClr val="C7DDF7"/>
                </a:solidFill>
                <a:latin typeface="Menlo"/>
              </a:defRPr>
            </a:pPr>
            <a:r>
              <a:rPr sz="1099" kern="1200">
                <a:solidFill>
                  <a:srgbClr val="C7DDF7"/>
                </a:solidFill>
                <a:latin typeface="Menlo"/>
              </a:rPr>
              <a:t>BEGIN IMMEDIATE</a:t>
            </a:r>
          </a:p>
          <a:p>
            <a:pPr defTabSz="456743" hangingPunct="1">
              <a:spcAft>
                <a:spcPts val="100"/>
              </a:spcAft>
              <a:defRPr sz="1100">
                <a:solidFill>
                  <a:srgbClr val="C7DDF7"/>
                </a:solidFill>
                <a:latin typeface="Menlo"/>
              </a:defRPr>
            </a:pPr>
            <a:r>
              <a:rPr sz="1099" kern="1200">
                <a:solidFill>
                  <a:srgbClr val="C7DDF7"/>
                </a:solidFill>
                <a:latin typeface="Menlo"/>
              </a:rPr>
              <a:t>  select highest-priority waiting patient</a:t>
            </a:r>
          </a:p>
          <a:p>
            <a:pPr defTabSz="456743" hangingPunct="1">
              <a:spcAft>
                <a:spcPts val="100"/>
              </a:spcAft>
              <a:defRPr sz="1100">
                <a:solidFill>
                  <a:srgbClr val="C7DDF7"/>
                </a:solidFill>
                <a:latin typeface="Menlo"/>
              </a:defRPr>
            </a:pPr>
            <a:r>
              <a:rPr sz="1099" kern="1200">
                <a:solidFill>
                  <a:srgbClr val="C7DDF7"/>
                </a:solidFill>
                <a:latin typeface="Menlo"/>
              </a:rPr>
              <a:t>  select available doctor and bed</a:t>
            </a:r>
          </a:p>
          <a:p>
            <a:pPr defTabSz="456743" hangingPunct="1">
              <a:spcAft>
                <a:spcPts val="100"/>
              </a:spcAft>
              <a:defRPr sz="1100">
                <a:solidFill>
                  <a:srgbClr val="C7DDF7"/>
                </a:solidFill>
                <a:latin typeface="Menlo"/>
              </a:defRPr>
            </a:pPr>
            <a:r>
              <a:rPr sz="1099" kern="1200">
                <a:solidFill>
                  <a:srgbClr val="C7DDF7"/>
                </a:solidFill>
                <a:latin typeface="Menlo"/>
              </a:rPr>
              <a:t>  update patient status + assigned resources</a:t>
            </a:r>
          </a:p>
          <a:p>
            <a:pPr defTabSz="456743" hangingPunct="1">
              <a:spcAft>
                <a:spcPts val="100"/>
              </a:spcAft>
              <a:defRPr sz="1100">
                <a:solidFill>
                  <a:srgbClr val="C7DDF7"/>
                </a:solidFill>
                <a:latin typeface="Menlo"/>
              </a:defRPr>
            </a:pPr>
            <a:r>
              <a:rPr sz="1099" kern="1200">
                <a:solidFill>
                  <a:srgbClr val="C7DDF7"/>
                </a:solidFill>
                <a:latin typeface="Menlo"/>
              </a:rPr>
              <a:t>  update doctor / bed status</a:t>
            </a:r>
          </a:p>
          <a:p>
            <a:pPr defTabSz="456743" hangingPunct="1">
              <a:spcAft>
                <a:spcPts val="100"/>
              </a:spcAft>
              <a:defRPr sz="1100">
                <a:solidFill>
                  <a:srgbClr val="C7DDF7"/>
                </a:solidFill>
                <a:latin typeface="Menlo"/>
              </a:defRPr>
            </a:pPr>
            <a:r>
              <a:rPr sz="1099" kern="1200">
                <a:solidFill>
                  <a:srgbClr val="C7DDF7"/>
                </a:solidFill>
                <a:latin typeface="Menlo"/>
              </a:rPr>
              <a:t>COMMIT</a:t>
            </a:r>
          </a:p>
          <a:p>
            <a:pPr defTabSz="456743" hangingPunct="1">
              <a:spcAft>
                <a:spcPts val="100"/>
              </a:spcAft>
              <a:defRPr sz="1100">
                <a:solidFill>
                  <a:srgbClr val="C7DDF7"/>
                </a:solidFill>
                <a:latin typeface="Menlo"/>
              </a:defRPr>
            </a:pPr>
            <a:r>
              <a:rPr sz="1099" kern="1200">
                <a:solidFill>
                  <a:srgbClr val="C7DDF7"/>
                </a:solidFill>
                <a:latin typeface="Menlo"/>
              </a:rPr>
              <a:t># Roll back on error</a:t>
            </a:r>
          </a:p>
        </p:txBody>
      </p:sp>
      <p:sp>
        <p:nvSpPr>
          <p:cNvPr id="27" name="Rounded Rectangle 26"/>
          <p:cNvSpPr/>
          <p:nvPr/>
        </p:nvSpPr>
        <p:spPr>
          <a:xfrm>
            <a:off x="6302788" y="3840051"/>
            <a:ext cx="4749927" cy="1324499"/>
          </a:xfrm>
          <a:prstGeom prst="roundRect">
            <a:avLst>
              <a:gd name="adj" fmla="val 12000"/>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8" name="Rectangle 27"/>
          <p:cNvSpPr/>
          <p:nvPr/>
        </p:nvSpPr>
        <p:spPr>
          <a:xfrm>
            <a:off x="6302788" y="3840051"/>
            <a:ext cx="63941" cy="1324499"/>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9" name="TextBox 28"/>
          <p:cNvSpPr txBox="1"/>
          <p:nvPr/>
        </p:nvSpPr>
        <p:spPr>
          <a:xfrm>
            <a:off x="6485477" y="3986203"/>
            <a:ext cx="4421086" cy="310572"/>
          </a:xfrm>
          <a:prstGeom prst="rect">
            <a:avLst/>
          </a:prstGeom>
          <a:noFill/>
        </p:spPr>
        <p:txBody>
          <a:bodyPr wrap="square" lIns="36538" tIns="36538" rIns="36538" bIns="36538" anchor="t">
            <a:spAutoFit/>
          </a:bodyPr>
          <a:lstStyle/>
          <a:p>
            <a:pPr defTabSz="456743" hangingPunct="1"/>
            <a:r>
              <a:rPr sz="1499" b="1" kern="1200">
                <a:solidFill>
                  <a:srgbClr val="F7F9FD"/>
                </a:solidFill>
                <a:latin typeface="Aptos"/>
              </a:rPr>
              <a:t>Why transaction boundaries matter</a:t>
            </a:r>
          </a:p>
        </p:txBody>
      </p:sp>
      <p:sp>
        <p:nvSpPr>
          <p:cNvPr id="30" name="TextBox 29"/>
          <p:cNvSpPr txBox="1"/>
          <p:nvPr/>
        </p:nvSpPr>
        <p:spPr>
          <a:xfrm>
            <a:off x="6485477" y="4360716"/>
            <a:ext cx="4402817" cy="442481"/>
          </a:xfrm>
          <a:prstGeom prst="rect">
            <a:avLst/>
          </a:prstGeom>
          <a:noFill/>
        </p:spPr>
        <p:txBody>
          <a:bodyPr wrap="square" lIns="36538" tIns="36538" rIns="36538" bIns="36538" anchor="t">
            <a:spAutoFit/>
          </a:bodyPr>
          <a:lstStyle/>
          <a:p>
            <a:pPr defTabSz="456743" hangingPunct="1"/>
            <a:r>
              <a:rPr sz="1199" kern="1200">
                <a:solidFill>
                  <a:srgbClr val="BECCE2"/>
                </a:solidFill>
                <a:latin typeface="Aptos"/>
              </a:rPr>
              <a:t>They reduce the risk of partially applying treatment-start changes if a database operation fails.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SOFTWARE QUALITY</a:t>
            </a:r>
          </a:p>
        </p:txBody>
      </p:sp>
      <p:sp>
        <p:nvSpPr>
          <p:cNvPr id="3" name="TextBox 2"/>
          <p:cNvSpPr txBox="1"/>
          <p:nvPr/>
        </p:nvSpPr>
        <p:spPr>
          <a:xfrm>
            <a:off x="529799" y="606447"/>
            <a:ext cx="11052715" cy="502396"/>
          </a:xfrm>
          <a:prstGeom prst="rect">
            <a:avLst/>
          </a:prstGeom>
          <a:noFill/>
        </p:spPr>
        <p:txBody>
          <a:bodyPr wrap="square" lIns="36538" tIns="36538" rIns="36538" bIns="36538" anchor="t">
            <a:spAutoFit/>
          </a:bodyPr>
          <a:lstStyle/>
          <a:p>
            <a:pPr defTabSz="456743" hangingPunct="1"/>
            <a:r>
              <a:rPr sz="2697" b="1" kern="1200">
                <a:solidFill>
                  <a:srgbClr val="19273F"/>
                </a:solidFill>
                <a:latin typeface="Aptos"/>
              </a:rPr>
              <a:t>Testing validates the behaviour, not just the appearance</a:t>
            </a:r>
          </a:p>
        </p:txBody>
      </p:sp>
      <p:sp>
        <p:nvSpPr>
          <p:cNvPr id="4" name="TextBox 3"/>
          <p:cNvSpPr txBox="1"/>
          <p:nvPr/>
        </p:nvSpPr>
        <p:spPr>
          <a:xfrm>
            <a:off x="548069" y="1136247"/>
            <a:ext cx="10961370" cy="25813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The current suite covers route integration and state changes; two focused tests were added for Merge Sort and generator CSV rows.</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dirty="0">
                <a:solidFill>
                  <a:srgbClr val="657794"/>
                </a:solidFill>
                <a:latin typeface="Aptos"/>
              </a:rPr>
              <a:t>1</a:t>
            </a:r>
            <a:r>
              <a:rPr lang="en-US" sz="899" b="1" kern="1200" dirty="0">
                <a:solidFill>
                  <a:srgbClr val="657794"/>
                </a:solidFill>
                <a:latin typeface="Aptos"/>
              </a:rPr>
              <a:t>3</a:t>
            </a:r>
            <a:endParaRPr sz="899" b="1" kern="1200" dirty="0">
              <a:solidFill>
                <a:srgbClr val="657794"/>
              </a:solidFill>
              <a:latin typeface="Aptos"/>
            </a:endParaRPr>
          </a:p>
        </p:txBody>
      </p:sp>
      <p:sp>
        <p:nvSpPr>
          <p:cNvPr id="8" name="Rounded Rectangle 7"/>
          <p:cNvSpPr/>
          <p:nvPr/>
        </p:nvSpPr>
        <p:spPr>
          <a:xfrm>
            <a:off x="685086" y="1602105"/>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Rectangle 8"/>
          <p:cNvSpPr/>
          <p:nvPr/>
        </p:nvSpPr>
        <p:spPr>
          <a:xfrm>
            <a:off x="685086" y="1602105"/>
            <a:ext cx="63941" cy="986523"/>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0" name="TextBox 9"/>
          <p:cNvSpPr txBox="1"/>
          <p:nvPr/>
        </p:nvSpPr>
        <p:spPr>
          <a:xfrm>
            <a:off x="867775" y="1748256"/>
            <a:ext cx="4832137" cy="288881"/>
          </a:xfrm>
          <a:prstGeom prst="rect">
            <a:avLst/>
          </a:prstGeom>
          <a:noFill/>
        </p:spPr>
        <p:txBody>
          <a:bodyPr wrap="square" lIns="36538" tIns="36538" rIns="36538" bIns="36538" anchor="t">
            <a:spAutoFit/>
          </a:bodyPr>
          <a:lstStyle/>
          <a:p>
            <a:pPr defTabSz="456743" hangingPunct="1"/>
            <a:r>
              <a:rPr sz="1399" b="1" kern="1200">
                <a:solidFill>
                  <a:srgbClr val="19273F"/>
                </a:solidFill>
                <a:latin typeface="Aptos"/>
              </a:rPr>
              <a:t>Registration</a:t>
            </a:r>
          </a:p>
        </p:txBody>
      </p:sp>
      <p:sp>
        <p:nvSpPr>
          <p:cNvPr id="11" name="TextBox 10"/>
          <p:cNvSpPr txBox="1"/>
          <p:nvPr/>
        </p:nvSpPr>
        <p:spPr>
          <a:xfrm>
            <a:off x="867775" y="2122771"/>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Required fields, age/severity, phone, duplicates</a:t>
            </a:r>
          </a:p>
        </p:txBody>
      </p:sp>
      <p:sp>
        <p:nvSpPr>
          <p:cNvPr id="12" name="Rounded Rectangle 11"/>
          <p:cNvSpPr/>
          <p:nvPr/>
        </p:nvSpPr>
        <p:spPr>
          <a:xfrm>
            <a:off x="6211443" y="1602105"/>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Rectangle 12"/>
          <p:cNvSpPr/>
          <p:nvPr/>
        </p:nvSpPr>
        <p:spPr>
          <a:xfrm>
            <a:off x="6211443" y="1602105"/>
            <a:ext cx="63941" cy="986523"/>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6394133" y="1748256"/>
            <a:ext cx="4832137" cy="288881"/>
          </a:xfrm>
          <a:prstGeom prst="rect">
            <a:avLst/>
          </a:prstGeom>
          <a:noFill/>
        </p:spPr>
        <p:txBody>
          <a:bodyPr wrap="square" lIns="36538" tIns="36538" rIns="36538" bIns="36538" anchor="t">
            <a:spAutoFit/>
          </a:bodyPr>
          <a:lstStyle/>
          <a:p>
            <a:pPr defTabSz="456743" hangingPunct="1"/>
            <a:r>
              <a:rPr sz="1399" b="1" kern="1200">
                <a:solidFill>
                  <a:srgbClr val="19273F"/>
                </a:solidFill>
                <a:latin typeface="Aptos"/>
              </a:rPr>
              <a:t>Priority</a:t>
            </a:r>
          </a:p>
        </p:txBody>
      </p:sp>
      <p:sp>
        <p:nvSpPr>
          <p:cNvPr id="15" name="TextBox 14"/>
          <p:cNvSpPr txBox="1"/>
          <p:nvPr/>
        </p:nvSpPr>
        <p:spPr>
          <a:xfrm>
            <a:off x="6394133" y="2122771"/>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Critical → Urgent → Normal; tie-break by arrival</a:t>
            </a:r>
          </a:p>
        </p:txBody>
      </p:sp>
      <p:sp>
        <p:nvSpPr>
          <p:cNvPr id="16" name="Rounded Rectangle 15"/>
          <p:cNvSpPr/>
          <p:nvPr/>
        </p:nvSpPr>
        <p:spPr>
          <a:xfrm>
            <a:off x="685086" y="2835259"/>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7" name="Rectangle 16"/>
          <p:cNvSpPr/>
          <p:nvPr/>
        </p:nvSpPr>
        <p:spPr>
          <a:xfrm>
            <a:off x="685086" y="2835259"/>
            <a:ext cx="63941" cy="986523"/>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8" name="TextBox 17"/>
          <p:cNvSpPr txBox="1"/>
          <p:nvPr/>
        </p:nvSpPr>
        <p:spPr>
          <a:xfrm>
            <a:off x="867775" y="2981411"/>
            <a:ext cx="4832137" cy="288881"/>
          </a:xfrm>
          <a:prstGeom prst="rect">
            <a:avLst/>
          </a:prstGeom>
          <a:noFill/>
        </p:spPr>
        <p:txBody>
          <a:bodyPr wrap="square" lIns="36538" tIns="36538" rIns="36538" bIns="36538" anchor="t">
            <a:spAutoFit/>
          </a:bodyPr>
          <a:lstStyle/>
          <a:p>
            <a:pPr defTabSz="456743" hangingPunct="1"/>
            <a:r>
              <a:rPr sz="1399" b="1" kern="1200">
                <a:solidFill>
                  <a:srgbClr val="19273F"/>
                </a:solidFill>
                <a:latin typeface="Aptos"/>
              </a:rPr>
              <a:t>Resources</a:t>
            </a:r>
          </a:p>
        </p:txBody>
      </p:sp>
      <p:sp>
        <p:nvSpPr>
          <p:cNvPr id="19" name="TextBox 18"/>
          <p:cNvSpPr txBox="1"/>
          <p:nvPr/>
        </p:nvSpPr>
        <p:spPr>
          <a:xfrm>
            <a:off x="867775" y="3355925"/>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Allocation, unavailable resources, release on completion</a:t>
            </a:r>
          </a:p>
        </p:txBody>
      </p:sp>
      <p:sp>
        <p:nvSpPr>
          <p:cNvPr id="20" name="Rounded Rectangle 19"/>
          <p:cNvSpPr/>
          <p:nvPr/>
        </p:nvSpPr>
        <p:spPr>
          <a:xfrm>
            <a:off x="6211443" y="2835259"/>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1" name="Rectangle 20"/>
          <p:cNvSpPr/>
          <p:nvPr/>
        </p:nvSpPr>
        <p:spPr>
          <a:xfrm>
            <a:off x="6211443" y="2835259"/>
            <a:ext cx="63941" cy="986523"/>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2" name="TextBox 21"/>
          <p:cNvSpPr txBox="1"/>
          <p:nvPr/>
        </p:nvSpPr>
        <p:spPr>
          <a:xfrm>
            <a:off x="6394133" y="2981411"/>
            <a:ext cx="4832137" cy="288881"/>
          </a:xfrm>
          <a:prstGeom prst="rect">
            <a:avLst/>
          </a:prstGeom>
          <a:noFill/>
        </p:spPr>
        <p:txBody>
          <a:bodyPr wrap="square" lIns="36538" tIns="36538" rIns="36538" bIns="36538" anchor="t">
            <a:spAutoFit/>
          </a:bodyPr>
          <a:lstStyle/>
          <a:p>
            <a:pPr defTabSz="456743" hangingPunct="1"/>
            <a:r>
              <a:rPr sz="1399" b="1" kern="1200">
                <a:solidFill>
                  <a:srgbClr val="19273F"/>
                </a:solidFill>
                <a:latin typeface="Aptos"/>
              </a:rPr>
              <a:t>History / export</a:t>
            </a:r>
          </a:p>
        </p:txBody>
      </p:sp>
      <p:sp>
        <p:nvSpPr>
          <p:cNvPr id="23" name="TextBox 22"/>
          <p:cNvSpPr txBox="1"/>
          <p:nvPr/>
        </p:nvSpPr>
        <p:spPr>
          <a:xfrm>
            <a:off x="6394133" y="3355925"/>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Treatment timestamps, notes, CSV header and patient row</a:t>
            </a:r>
          </a:p>
        </p:txBody>
      </p:sp>
      <p:sp>
        <p:nvSpPr>
          <p:cNvPr id="24" name="Rounded Rectangle 23"/>
          <p:cNvSpPr/>
          <p:nvPr/>
        </p:nvSpPr>
        <p:spPr>
          <a:xfrm>
            <a:off x="685086" y="4068413"/>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5" name="Rectangle 24"/>
          <p:cNvSpPr/>
          <p:nvPr/>
        </p:nvSpPr>
        <p:spPr>
          <a:xfrm>
            <a:off x="685086" y="4068413"/>
            <a:ext cx="63941" cy="986523"/>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6" name="TextBox 25"/>
          <p:cNvSpPr txBox="1"/>
          <p:nvPr/>
        </p:nvSpPr>
        <p:spPr>
          <a:xfrm>
            <a:off x="867775" y="4214565"/>
            <a:ext cx="4832137" cy="288881"/>
          </a:xfrm>
          <a:prstGeom prst="rect">
            <a:avLst/>
          </a:prstGeom>
          <a:noFill/>
        </p:spPr>
        <p:txBody>
          <a:bodyPr wrap="square" lIns="36538" tIns="36538" rIns="36538" bIns="36538" anchor="t">
            <a:spAutoFit/>
          </a:bodyPr>
          <a:lstStyle/>
          <a:p>
            <a:pPr defTabSz="456743" hangingPunct="1"/>
            <a:r>
              <a:rPr sz="1399" b="1" kern="1200">
                <a:solidFill>
                  <a:srgbClr val="19273F"/>
                </a:solidFill>
                <a:latin typeface="Aptos"/>
              </a:rPr>
              <a:t>Navigation</a:t>
            </a:r>
          </a:p>
        </p:txBody>
      </p:sp>
      <p:sp>
        <p:nvSpPr>
          <p:cNvPr id="27" name="TextBox 26"/>
          <p:cNvSpPr txBox="1"/>
          <p:nvPr/>
        </p:nvSpPr>
        <p:spPr>
          <a:xfrm>
            <a:off x="867775" y="4589079"/>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Separate live display, queue, patients, doctors, resources</a:t>
            </a:r>
          </a:p>
        </p:txBody>
      </p:sp>
      <p:sp>
        <p:nvSpPr>
          <p:cNvPr id="28" name="Rounded Rectangle 27"/>
          <p:cNvSpPr/>
          <p:nvPr/>
        </p:nvSpPr>
        <p:spPr>
          <a:xfrm>
            <a:off x="6211443" y="4068413"/>
            <a:ext cx="5160978" cy="986523"/>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29" name="Rectangle 28"/>
          <p:cNvSpPr/>
          <p:nvPr/>
        </p:nvSpPr>
        <p:spPr>
          <a:xfrm>
            <a:off x="6211443" y="4068413"/>
            <a:ext cx="63941" cy="986523"/>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0" name="TextBox 29"/>
          <p:cNvSpPr txBox="1"/>
          <p:nvPr/>
        </p:nvSpPr>
        <p:spPr>
          <a:xfrm>
            <a:off x="6394133" y="4214565"/>
            <a:ext cx="4832137" cy="288881"/>
          </a:xfrm>
          <a:prstGeom prst="rect">
            <a:avLst/>
          </a:prstGeom>
          <a:noFill/>
        </p:spPr>
        <p:txBody>
          <a:bodyPr wrap="square" lIns="36538" tIns="36538" rIns="36538" bIns="36538" anchor="t">
            <a:spAutoFit/>
          </a:bodyPr>
          <a:lstStyle/>
          <a:p>
            <a:pPr defTabSz="456743" hangingPunct="1"/>
            <a:r>
              <a:rPr lang="en-US" sz="1399" b="1" kern="1200" dirty="0">
                <a:solidFill>
                  <a:srgbClr val="19273F"/>
                </a:solidFill>
                <a:latin typeface="Aptos"/>
              </a:rPr>
              <a:t>Also Include</a:t>
            </a:r>
            <a:endParaRPr sz="1399" b="1" kern="1200" dirty="0">
              <a:solidFill>
                <a:srgbClr val="19273F"/>
              </a:solidFill>
              <a:latin typeface="Aptos"/>
            </a:endParaRPr>
          </a:p>
        </p:txBody>
      </p:sp>
      <p:sp>
        <p:nvSpPr>
          <p:cNvPr id="31" name="TextBox 30"/>
          <p:cNvSpPr txBox="1"/>
          <p:nvPr/>
        </p:nvSpPr>
        <p:spPr>
          <a:xfrm>
            <a:off x="6394133" y="4589079"/>
            <a:ext cx="4813868" cy="242762"/>
          </a:xfrm>
          <a:prstGeom prst="rect">
            <a:avLst/>
          </a:prstGeom>
          <a:noFill/>
        </p:spPr>
        <p:txBody>
          <a:bodyPr wrap="square" lIns="36538" tIns="36538" rIns="36538" bIns="36538" anchor="t">
            <a:spAutoFit/>
          </a:bodyPr>
          <a:lstStyle/>
          <a:p>
            <a:pPr defTabSz="456743" hangingPunct="1"/>
            <a:r>
              <a:rPr sz="1099" kern="1200">
                <a:solidFill>
                  <a:srgbClr val="657794"/>
                </a:solidFill>
                <a:latin typeface="Aptos"/>
              </a:rPr>
              <a:t>Merge Sort order and non-mutating behaviour; generator CSV header</a:t>
            </a:r>
          </a:p>
        </p:txBody>
      </p:sp>
      <p:sp>
        <p:nvSpPr>
          <p:cNvPr id="32" name="Rounded Rectangle 31"/>
          <p:cNvSpPr/>
          <p:nvPr/>
        </p:nvSpPr>
        <p:spPr>
          <a:xfrm>
            <a:off x="776430" y="5529929"/>
            <a:ext cx="4932617" cy="658966"/>
          </a:xfrm>
          <a:prstGeom prst="roundRect">
            <a:avLst>
              <a:gd name="adj" fmla="val 12000"/>
            </a:avLst>
          </a:prstGeom>
          <a:solidFill>
            <a:srgbClr val="08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33" name="TextBox 32"/>
          <p:cNvSpPr txBox="1"/>
          <p:nvPr/>
        </p:nvSpPr>
        <p:spPr>
          <a:xfrm>
            <a:off x="940851" y="5621273"/>
            <a:ext cx="4612910" cy="212017"/>
          </a:xfrm>
          <a:prstGeom prst="rect">
            <a:avLst/>
          </a:prstGeom>
          <a:noFill/>
        </p:spPr>
        <p:txBody>
          <a:bodyPr wrap="square" lIns="36538" tIns="36538" rIns="36538" bIns="36538" anchor="t">
            <a:spAutoFit/>
          </a:bodyPr>
          <a:lstStyle/>
          <a:p>
            <a:pPr defTabSz="456743" hangingPunct="1"/>
            <a:r>
              <a:rPr sz="899" b="1" kern="1200">
                <a:solidFill>
                  <a:srgbClr val="27BEAE"/>
                </a:solidFill>
                <a:latin typeface="Aptos"/>
              </a:rPr>
              <a:t>RUN LOCALLY</a:t>
            </a:r>
          </a:p>
        </p:txBody>
      </p:sp>
      <p:sp>
        <p:nvSpPr>
          <p:cNvPr id="34" name="TextBox 33"/>
          <p:cNvSpPr txBox="1"/>
          <p:nvPr/>
        </p:nvSpPr>
        <p:spPr>
          <a:xfrm>
            <a:off x="940851" y="5877039"/>
            <a:ext cx="4603775" cy="184346"/>
          </a:xfrm>
          <a:prstGeom prst="rect">
            <a:avLst/>
          </a:prstGeom>
          <a:noFill/>
        </p:spPr>
        <p:txBody>
          <a:bodyPr wrap="square" lIns="0" tIns="0" rIns="0" bIns="0">
            <a:spAutoFit/>
          </a:bodyPr>
          <a:lstStyle/>
          <a:p>
            <a:pPr defTabSz="456743" hangingPunct="1">
              <a:spcAft>
                <a:spcPts val="100"/>
              </a:spcAft>
              <a:defRPr sz="1200">
                <a:solidFill>
                  <a:srgbClr val="C7DDF7"/>
                </a:solidFill>
                <a:latin typeface="Menlo"/>
              </a:defRPr>
            </a:pPr>
            <a:r>
              <a:rPr sz="1199" kern="1200">
                <a:solidFill>
                  <a:srgbClr val="C7DDF7"/>
                </a:solidFill>
                <a:latin typeface="Menlo"/>
              </a:rPr>
              <a:t>python -m pytest -v</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D"/>
        </a:solidFill>
        <a:effectLst/>
      </p:bgPr>
    </p:bg>
    <p:spTree>
      <p:nvGrpSpPr>
        <p:cNvPr id="1" name=""/>
        <p:cNvGrpSpPr/>
        <p:nvPr/>
      </p:nvGrpSpPr>
      <p:grpSpPr>
        <a:xfrm>
          <a:off x="0" y="0"/>
          <a:ext cx="0" cy="0"/>
          <a:chOff x="0" y="0"/>
          <a:chExt cx="0" cy="0"/>
        </a:xfrm>
      </p:grpSpPr>
      <p:sp>
        <p:nvSpPr>
          <p:cNvPr id="2" name="TextBox 1"/>
          <p:cNvSpPr txBox="1"/>
          <p:nvPr/>
        </p:nvSpPr>
        <p:spPr>
          <a:xfrm>
            <a:off x="529800" y="295875"/>
            <a:ext cx="7307580" cy="227389"/>
          </a:xfrm>
          <a:prstGeom prst="rect">
            <a:avLst/>
          </a:prstGeom>
          <a:noFill/>
        </p:spPr>
        <p:txBody>
          <a:bodyPr wrap="square" lIns="36538" tIns="36538" rIns="36538" bIns="36538" anchor="t">
            <a:spAutoFit/>
          </a:bodyPr>
          <a:lstStyle/>
          <a:p>
            <a:pPr defTabSz="456743" hangingPunct="1"/>
            <a:r>
              <a:rPr sz="999" b="1" kern="1200" dirty="0">
                <a:solidFill>
                  <a:srgbClr val="315FE8"/>
                </a:solidFill>
                <a:latin typeface="Aptos"/>
              </a:rPr>
              <a:t>CONCLUSION</a:t>
            </a:r>
          </a:p>
        </p:txBody>
      </p:sp>
      <p:sp>
        <p:nvSpPr>
          <p:cNvPr id="5" name="Rectangle 4"/>
          <p:cNvSpPr/>
          <p:nvPr/>
        </p:nvSpPr>
        <p:spPr>
          <a:xfrm>
            <a:off x="529800" y="6507319"/>
            <a:ext cx="11098387" cy="16442"/>
          </a:xfrm>
          <a:prstGeom prst="rect">
            <a:avLst/>
          </a:prstGeom>
          <a:solidFill>
            <a:srgbClr val="DDE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6" name="TextBox 5"/>
          <p:cNvSpPr txBox="1"/>
          <p:nvPr/>
        </p:nvSpPr>
        <p:spPr>
          <a:xfrm>
            <a:off x="548068" y="6562125"/>
            <a:ext cx="8221028" cy="196644"/>
          </a:xfrm>
          <a:prstGeom prst="rect">
            <a:avLst/>
          </a:prstGeom>
          <a:noFill/>
        </p:spPr>
        <p:txBody>
          <a:bodyPr wrap="square" lIns="36538" tIns="36538" rIns="36538" bIns="36538" anchor="t">
            <a:spAutoFit/>
          </a:bodyPr>
          <a:lstStyle/>
          <a:p>
            <a:pPr defTabSz="456743" hangingPunct="1"/>
            <a:r>
              <a:rPr sz="799" b="1" kern="1200">
                <a:solidFill>
                  <a:srgbClr val="657794"/>
                </a:solidFill>
                <a:latin typeface="Aptos"/>
              </a:rPr>
              <a:t>CAREQUEUE  •  COMPUTATIONAL THINKING &amp; PROGRAMMING</a:t>
            </a:r>
          </a:p>
        </p:txBody>
      </p:sp>
      <p:sp>
        <p:nvSpPr>
          <p:cNvPr id="7" name="TextBox 6"/>
          <p:cNvSpPr txBox="1"/>
          <p:nvPr/>
        </p:nvSpPr>
        <p:spPr>
          <a:xfrm>
            <a:off x="11125791" y="6543856"/>
            <a:ext cx="411051" cy="212017"/>
          </a:xfrm>
          <a:prstGeom prst="rect">
            <a:avLst/>
          </a:prstGeom>
          <a:noFill/>
        </p:spPr>
        <p:txBody>
          <a:bodyPr wrap="square" lIns="36538" tIns="36538" rIns="36538" bIns="36538" anchor="t">
            <a:spAutoFit/>
          </a:bodyPr>
          <a:lstStyle/>
          <a:p>
            <a:pPr algn="r" defTabSz="456743" hangingPunct="1"/>
            <a:r>
              <a:rPr sz="899" b="1" kern="1200" dirty="0">
                <a:solidFill>
                  <a:srgbClr val="657794"/>
                </a:solidFill>
                <a:latin typeface="Aptos"/>
              </a:rPr>
              <a:t>1</a:t>
            </a:r>
            <a:r>
              <a:rPr lang="en-US" sz="899" b="1" kern="1200" dirty="0">
                <a:solidFill>
                  <a:srgbClr val="657794"/>
                </a:solidFill>
                <a:latin typeface="Aptos"/>
              </a:rPr>
              <a:t>4</a:t>
            </a:r>
            <a:endParaRPr sz="899" b="1" kern="1200" dirty="0">
              <a:solidFill>
                <a:srgbClr val="657794"/>
              </a:solidFill>
              <a:latin typeface="Aptos"/>
            </a:endParaRPr>
          </a:p>
        </p:txBody>
      </p:sp>
      <p:sp>
        <p:nvSpPr>
          <p:cNvPr id="8" name="Rounded Rectangle 7"/>
          <p:cNvSpPr/>
          <p:nvPr/>
        </p:nvSpPr>
        <p:spPr>
          <a:xfrm>
            <a:off x="685086" y="1647778"/>
            <a:ext cx="3379756" cy="1370171"/>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9" name="Rectangle 8"/>
          <p:cNvSpPr/>
          <p:nvPr/>
        </p:nvSpPr>
        <p:spPr>
          <a:xfrm>
            <a:off x="685086" y="1647778"/>
            <a:ext cx="63941" cy="1370171"/>
          </a:xfrm>
          <a:prstGeom prst="rect">
            <a:avLst/>
          </a:prstGeom>
          <a:solidFill>
            <a:srgbClr val="315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0" name="TextBox 9"/>
          <p:cNvSpPr txBox="1"/>
          <p:nvPr/>
        </p:nvSpPr>
        <p:spPr>
          <a:xfrm>
            <a:off x="867775" y="1793929"/>
            <a:ext cx="3050915"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Implemented concepts</a:t>
            </a:r>
          </a:p>
        </p:txBody>
      </p:sp>
      <p:sp>
        <p:nvSpPr>
          <p:cNvPr id="11" name="TextBox 10"/>
          <p:cNvSpPr txBox="1"/>
          <p:nvPr/>
        </p:nvSpPr>
        <p:spPr>
          <a:xfrm>
            <a:off x="867775" y="2168443"/>
            <a:ext cx="3032646" cy="62682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Decomposition, Merge Sort, greedy allocation, rule-based matching, generators, persistence, testing.</a:t>
            </a:r>
          </a:p>
        </p:txBody>
      </p:sp>
      <p:sp>
        <p:nvSpPr>
          <p:cNvPr id="12" name="Rounded Rectangle 11"/>
          <p:cNvSpPr/>
          <p:nvPr/>
        </p:nvSpPr>
        <p:spPr>
          <a:xfrm>
            <a:off x="4384548" y="1647778"/>
            <a:ext cx="3379756" cy="1370171"/>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3" name="Rectangle 12"/>
          <p:cNvSpPr/>
          <p:nvPr/>
        </p:nvSpPr>
        <p:spPr>
          <a:xfrm>
            <a:off x="4384548" y="1647778"/>
            <a:ext cx="63941" cy="1370171"/>
          </a:xfrm>
          <a:prstGeom prst="rect">
            <a:avLst/>
          </a:prstGeom>
          <a:solidFill>
            <a:srgbClr val="EB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4" name="TextBox 13"/>
          <p:cNvSpPr txBox="1"/>
          <p:nvPr/>
        </p:nvSpPr>
        <p:spPr>
          <a:xfrm>
            <a:off x="4567237" y="1793929"/>
            <a:ext cx="3050915"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Current limitations</a:t>
            </a:r>
          </a:p>
        </p:txBody>
      </p:sp>
      <p:sp>
        <p:nvSpPr>
          <p:cNvPr id="15" name="TextBox 14"/>
          <p:cNvSpPr txBox="1"/>
          <p:nvPr/>
        </p:nvSpPr>
        <p:spPr>
          <a:xfrm>
            <a:off x="4567237" y="2168443"/>
            <a:ext cx="3032646" cy="62682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Demo inventory, operator-entered severity, local SQLite, no production authentication or hospital integration.</a:t>
            </a:r>
          </a:p>
        </p:txBody>
      </p:sp>
      <p:sp>
        <p:nvSpPr>
          <p:cNvPr id="16" name="Rounded Rectangle 15"/>
          <p:cNvSpPr/>
          <p:nvPr/>
        </p:nvSpPr>
        <p:spPr>
          <a:xfrm>
            <a:off x="8084010" y="1647778"/>
            <a:ext cx="3379756" cy="1370171"/>
          </a:xfrm>
          <a:prstGeom prst="roundRect">
            <a:avLst>
              <a:gd name="adj" fmla="val 12000"/>
            </a:avLst>
          </a:prstGeom>
          <a:solidFill>
            <a:srgbClr val="FFFFFF"/>
          </a:solidFill>
          <a:ln>
            <a:solidFill>
              <a:srgbClr val="DD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7" name="Rectangle 16"/>
          <p:cNvSpPr/>
          <p:nvPr/>
        </p:nvSpPr>
        <p:spPr>
          <a:xfrm>
            <a:off x="8084011" y="1647778"/>
            <a:ext cx="63941" cy="1370171"/>
          </a:xfrm>
          <a:prstGeom prst="rect">
            <a:avLst/>
          </a:prstGeom>
          <a:solidFill>
            <a:srgbClr val="27BE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6743" hangingPunct="1"/>
            <a:endParaRPr sz="1798" kern="1200">
              <a:solidFill>
                <a:prstClr val="white"/>
              </a:solidFill>
              <a:latin typeface="Calibri"/>
            </a:endParaRPr>
          </a:p>
        </p:txBody>
      </p:sp>
      <p:sp>
        <p:nvSpPr>
          <p:cNvPr id="18" name="TextBox 17"/>
          <p:cNvSpPr txBox="1"/>
          <p:nvPr/>
        </p:nvSpPr>
        <p:spPr>
          <a:xfrm>
            <a:off x="8266699" y="1793929"/>
            <a:ext cx="3050915" cy="310572"/>
          </a:xfrm>
          <a:prstGeom prst="rect">
            <a:avLst/>
          </a:prstGeom>
          <a:noFill/>
        </p:spPr>
        <p:txBody>
          <a:bodyPr wrap="square" lIns="36538" tIns="36538" rIns="36538" bIns="36538" anchor="t">
            <a:spAutoFit/>
          </a:bodyPr>
          <a:lstStyle/>
          <a:p>
            <a:pPr defTabSz="456743" hangingPunct="1"/>
            <a:r>
              <a:rPr sz="1499" b="1" kern="1200">
                <a:solidFill>
                  <a:srgbClr val="19273F"/>
                </a:solidFill>
                <a:latin typeface="Aptos"/>
              </a:rPr>
              <a:t>Future work</a:t>
            </a:r>
          </a:p>
        </p:txBody>
      </p:sp>
      <p:sp>
        <p:nvSpPr>
          <p:cNvPr id="19" name="TextBox 18"/>
          <p:cNvSpPr txBox="1"/>
          <p:nvPr/>
        </p:nvSpPr>
        <p:spPr>
          <a:xfrm>
            <a:off x="8266699" y="2168443"/>
            <a:ext cx="3032646" cy="626825"/>
          </a:xfrm>
          <a:prstGeom prst="rect">
            <a:avLst/>
          </a:prstGeom>
          <a:noFill/>
        </p:spPr>
        <p:txBody>
          <a:bodyPr wrap="square" lIns="36538" tIns="36538" rIns="36538" bIns="36538" anchor="t">
            <a:spAutoFit/>
          </a:bodyPr>
          <a:lstStyle/>
          <a:p>
            <a:pPr defTabSz="456743" hangingPunct="1"/>
            <a:r>
              <a:rPr sz="1199" kern="1200">
                <a:solidFill>
                  <a:srgbClr val="657794"/>
                </a:solidFill>
                <a:latin typeface="Aptos"/>
              </a:rPr>
              <a:t>Role-based access, audit trails, stronger clinical governance, concurrency tests, and deployment hardening.</a:t>
            </a:r>
          </a:p>
        </p:txBody>
      </p:sp>
      <p:sp>
        <p:nvSpPr>
          <p:cNvPr id="20" name="TextBox 19"/>
          <p:cNvSpPr txBox="1"/>
          <p:nvPr/>
        </p:nvSpPr>
        <p:spPr>
          <a:xfrm>
            <a:off x="730758" y="3794379"/>
            <a:ext cx="4567238" cy="534526"/>
          </a:xfrm>
          <a:prstGeom prst="rect">
            <a:avLst/>
          </a:prstGeom>
          <a:noFill/>
        </p:spPr>
        <p:txBody>
          <a:bodyPr wrap="square" lIns="36538" tIns="36538" rIns="36538" bIns="36538" anchor="t">
            <a:spAutoFit/>
          </a:bodyPr>
          <a:lstStyle/>
          <a:p>
            <a:pPr defTabSz="456743" hangingPunct="1"/>
            <a:r>
              <a:rPr sz="2997" b="1" kern="1200">
                <a:solidFill>
                  <a:srgbClr val="19273F"/>
                </a:solidFill>
                <a:latin typeface="Aptos"/>
              </a:rPr>
              <a:t>CAREQUEUE</a:t>
            </a:r>
          </a:p>
        </p:txBody>
      </p:sp>
      <p:sp>
        <p:nvSpPr>
          <p:cNvPr id="21" name="TextBox 20"/>
          <p:cNvSpPr txBox="1"/>
          <p:nvPr/>
        </p:nvSpPr>
        <p:spPr>
          <a:xfrm>
            <a:off x="749027" y="4433792"/>
            <a:ext cx="6394133" cy="334807"/>
          </a:xfrm>
          <a:prstGeom prst="rect">
            <a:avLst/>
          </a:prstGeom>
          <a:noFill/>
        </p:spPr>
        <p:txBody>
          <a:bodyPr wrap="square" lIns="36538" tIns="36538" rIns="36538" bIns="36538" anchor="t">
            <a:spAutoFit/>
          </a:bodyPr>
          <a:lstStyle/>
          <a:p>
            <a:pPr defTabSz="456743" hangingPunct="1"/>
            <a:r>
              <a:rPr sz="1698" b="1" kern="1200">
                <a:solidFill>
                  <a:srgbClr val="315FE8"/>
                </a:solidFill>
                <a:latin typeface="Aptos"/>
              </a:rPr>
              <a:t>Register  •  Prioritize  •  Allocate  •  Record</a:t>
            </a:r>
          </a:p>
        </p:txBody>
      </p:sp>
      <p:grpSp>
        <p:nvGrpSpPr>
          <p:cNvPr id="26" name="Group 25">
            <a:extLst>
              <a:ext uri="{FF2B5EF4-FFF2-40B4-BE49-F238E27FC236}">
                <a16:creationId xmlns:a16="http://schemas.microsoft.com/office/drawing/2014/main" id="{4FE2A207-87DF-83D5-2B5D-FEA017040525}"/>
              </a:ext>
            </a:extLst>
          </p:cNvPr>
          <p:cNvGrpSpPr/>
          <p:nvPr/>
        </p:nvGrpSpPr>
        <p:grpSpPr>
          <a:xfrm>
            <a:off x="593803" y="5093627"/>
            <a:ext cx="6949441" cy="960121"/>
            <a:chOff x="822960" y="3931920"/>
            <a:chExt cx="6949441" cy="960121"/>
          </a:xfrm>
        </p:grpSpPr>
        <p:sp>
          <p:nvSpPr>
            <p:cNvPr id="27" name="Rounded Rectangle 4">
              <a:extLst>
                <a:ext uri="{FF2B5EF4-FFF2-40B4-BE49-F238E27FC236}">
                  <a16:creationId xmlns:a16="http://schemas.microsoft.com/office/drawing/2014/main" id="{E11F26DD-0E97-2925-794B-F2E41D322785}"/>
                </a:ext>
              </a:extLst>
            </p:cNvPr>
            <p:cNvSpPr/>
            <p:nvPr/>
          </p:nvSpPr>
          <p:spPr>
            <a:xfrm>
              <a:off x="822960" y="3931920"/>
              <a:ext cx="6949441" cy="960121"/>
            </a:xfrm>
            <a:prstGeom prst="roundRect">
              <a:avLst>
                <a:gd name="adj" fmla="val 16667"/>
              </a:avLst>
            </a:prstGeom>
            <a:solidFill>
              <a:srgbClr val="192C4D"/>
            </a:solidFill>
            <a:ln>
              <a:solidFill>
                <a:srgbClr val="344C77"/>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sp>
          <p:nvSpPr>
            <p:cNvPr id="28" name="TextBox 5">
              <a:extLst>
                <a:ext uri="{FF2B5EF4-FFF2-40B4-BE49-F238E27FC236}">
                  <a16:creationId xmlns:a16="http://schemas.microsoft.com/office/drawing/2014/main" id="{9990C719-B939-66F4-A108-93AC41D6E65B}"/>
                </a:ext>
              </a:extLst>
            </p:cNvPr>
            <p:cNvSpPr txBox="1"/>
            <p:nvPr/>
          </p:nvSpPr>
          <p:spPr>
            <a:xfrm>
              <a:off x="1124711" y="4233672"/>
              <a:ext cx="6254498" cy="4048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8" tIns="18288" rIns="18288" bIns="18288">
              <a:spAutoFit/>
            </a:bodyPr>
            <a:lstStyle>
              <a:lvl1pPr>
                <a:defRPr sz="2400" b="1">
                  <a:solidFill>
                    <a:srgbClr val="FFFFFF"/>
                  </a:solidFill>
                  <a:latin typeface="Aptos"/>
                  <a:ea typeface="Aptos"/>
                  <a:cs typeface="Aptos"/>
                  <a:sym typeface="Aptos"/>
                </a:defRPr>
              </a:lvl1pPr>
            </a:lstStyle>
            <a:p>
              <a:r>
                <a:rPr dirty="0"/>
                <a:t>Thank you</a:t>
              </a:r>
            </a:p>
          </p:txBody>
        </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568</TotalTime>
  <Words>1561</Words>
  <Application>Microsoft Macintosh PowerPoint</Application>
  <PresentationFormat>Custom</PresentationFormat>
  <Paragraphs>249</Paragraphs>
  <Slides>14</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Menlo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Maroju Geetha Krishna Venkatesh</cp:lastModifiedBy>
  <cp:revision>29</cp:revision>
  <dcterms:modified xsi:type="dcterms:W3CDTF">2026-10-13T17:57:58Z</dcterms:modified>
</cp:coreProperties>
</file>